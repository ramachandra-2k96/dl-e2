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6" Type="http://schemas.openxmlformats.org/officeDocument/2006/relationships/slide" Target="slides/slide10.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87b62f0be_2_75: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g3f87b62f0be_2_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g3f87b62f0be_2_7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f87b62f0be_2_85: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 name="Google Shape;137;g3f87b62f0be_2_8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is the business case in plain terms: nobody wants to read a full paragraph just to find one</a:t>
            </a:r>
            <a:endParaRPr/>
          </a:p>
          <a:p>
            <a:pPr indent="0" lvl="0" marL="0" rtl="0" algn="l">
              <a:spcBef>
                <a:spcPts val="0"/>
              </a:spcBef>
              <a:spcAft>
                <a:spcPts val="0"/>
              </a:spcAft>
              <a:buNone/>
            </a:pPr>
            <a:r>
              <a:rPr lang="en"/>
              <a:t>sentence. It's not a one-off annoyance either – it's a time cost that repeats every single time</a:t>
            </a:r>
            <a:endParaRPr/>
          </a:p>
          <a:p>
            <a:pPr indent="0" lvl="0" marL="0" rtl="0" algn="l">
              <a:spcBef>
                <a:spcPts val="0"/>
              </a:spcBef>
              <a:spcAft>
                <a:spcPts val="0"/>
              </a:spcAft>
              <a:buNone/>
            </a:pPr>
            <a:r>
              <a:rPr lang="en"/>
              <a:t>anyone on the research or clinical side does a literature review. I'll show a live example of exactly</a:t>
            </a:r>
            <a:endParaRPr/>
          </a:p>
          <a:p>
            <a:pPr indent="0" lvl="0" marL="0" rtl="0" algn="l">
              <a:spcBef>
                <a:spcPts val="0"/>
              </a:spcBef>
              <a:spcAft>
                <a:spcPts val="0"/>
              </a:spcAft>
              <a:buNone/>
            </a:pPr>
            <a:r>
              <a:rPr lang="en"/>
              <a:t>this problem in a few slides, using a real abstract.</a:t>
            </a:r>
            <a:endParaRPr/>
          </a:p>
        </p:txBody>
      </p:sp>
      <p:sp>
        <p:nvSpPr>
          <p:cNvPr id="138" name="Google Shape;138;g3f87b62f0be_2_8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f87b62f0be_2_95: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 name="Google Shape;148;g3f87b62f0be_2_9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core idea is simple even though the models behind it aren't: read a sentence, decide which of</a:t>
            </a:r>
            <a:endParaRPr/>
          </a:p>
          <a:p>
            <a:pPr indent="0" lvl="0" marL="0" rtl="0" algn="l">
              <a:spcBef>
                <a:spcPts val="0"/>
              </a:spcBef>
              <a:spcAft>
                <a:spcPts val="0"/>
              </a:spcAft>
              <a:buNone/>
            </a:pPr>
            <a:r>
              <a:rPr lang="en"/>
              <a:t>five buckets it belongs in, repeat for every sentence in the abstract. Once we have those labels,</a:t>
            </a:r>
            <a:endParaRPr/>
          </a:p>
          <a:p>
            <a:pPr indent="0" lvl="0" marL="0" rtl="0" algn="l">
              <a:spcBef>
                <a:spcPts val="0"/>
              </a:spcBef>
              <a:spcAft>
                <a:spcPts val="0"/>
              </a:spcAft>
              <a:buNone/>
            </a:pPr>
            <a:r>
              <a:rPr lang="en"/>
              <a:t>laying the abstract out nicely is just formatting – the hard part, and the bulk of this project, was</a:t>
            </a:r>
            <a:endParaRPr/>
          </a:p>
          <a:p>
            <a:pPr indent="0" lvl="0" marL="0" rtl="0" algn="l">
              <a:spcBef>
                <a:spcPts val="0"/>
              </a:spcBef>
              <a:spcAft>
                <a:spcPts val="0"/>
              </a:spcAft>
              <a:buNone/>
            </a:pPr>
            <a:r>
              <a:rPr lang="en"/>
              <a:t>getting those labels right.</a:t>
            </a:r>
            <a:endParaRPr/>
          </a:p>
        </p:txBody>
      </p:sp>
      <p:sp>
        <p:nvSpPr>
          <p:cNvPr id="149" name="Google Shape;149;g3f87b62f0be_2_9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f87b62f0be_2_105: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9" name="Google Shape;159;g3f87b62f0be_2_10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None of this is synthetic - it's about 240,000 real sentences from real trial abstracts. The reason</a:t>
            </a:r>
            <a:endParaRPr/>
          </a:p>
          <a:p>
            <a:pPr indent="0" lvl="0" marL="0" rtl="0" algn="l">
              <a:spcBef>
                <a:spcPts val="0"/>
              </a:spcBef>
              <a:spcAft>
                <a:spcPts val="0"/>
              </a:spcAft>
              <a:buNone/>
            </a:pPr>
            <a:r>
              <a:rPr lang="en"/>
              <a:t>we have </a:t>
            </a:r>
            <a:r>
              <a:rPr lang="en">
                <a:solidFill>
                  <a:schemeClr val="dk1"/>
                </a:solidFill>
              </a:rPr>
              <a:t>three </a:t>
            </a:r>
            <a:r>
              <a:rPr lang="en"/>
              <a:t>split is a discipline: we train the  models against the </a:t>
            </a:r>
            <a:r>
              <a:rPr lang="en"/>
              <a:t>test</a:t>
            </a:r>
            <a:r>
              <a:rPr lang="en"/>
              <a:t> set and validate using </a:t>
            </a:r>
            <a:r>
              <a:rPr lang="en"/>
              <a:t>validation set</a:t>
            </a:r>
            <a:r>
              <a:rPr lang="en"/>
              <a:t> on the fly as much as we like,</a:t>
            </a:r>
            <a:endParaRPr/>
          </a:p>
          <a:p>
            <a:pPr indent="0" lvl="0" marL="0" rtl="0" algn="l">
              <a:spcBef>
                <a:spcPts val="0"/>
              </a:spcBef>
              <a:spcAft>
                <a:spcPts val="0"/>
              </a:spcAft>
              <a:buNone/>
            </a:pPr>
            <a:r>
              <a:rPr lang="en"/>
              <a:t>but the test numbers only get looked at once, right at the end, so we're not fooling ourselves about</a:t>
            </a:r>
            <a:endParaRPr/>
          </a:p>
          <a:p>
            <a:pPr indent="0" lvl="0" marL="0" rtl="0" algn="l">
              <a:spcBef>
                <a:spcPts val="0"/>
              </a:spcBef>
              <a:spcAft>
                <a:spcPts val="0"/>
              </a:spcAft>
              <a:buNone/>
            </a:pPr>
            <a:r>
              <a:rPr lang="en"/>
              <a:t>how well this actually generalizes to abstracts the model has never seen.</a:t>
            </a:r>
            <a:endParaRPr/>
          </a:p>
        </p:txBody>
      </p:sp>
      <p:sp>
        <p:nvSpPr>
          <p:cNvPr id="160" name="Google Shape;160;g3f87b62f0be_2_10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f87b62f0be_2_115: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0" name="Google Shape;170;g3f87b62f0be_2_1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We didn't jump straight to the fanciest option. Each of these five got the same fair process: build</a:t>
            </a:r>
            <a:endParaRPr/>
          </a:p>
          <a:p>
            <a:pPr indent="0" lvl="0" marL="0" rtl="0" algn="l">
              <a:spcBef>
                <a:spcPts val="0"/>
              </a:spcBef>
              <a:spcAft>
                <a:spcPts val="0"/>
              </a:spcAft>
              <a:buNone/>
            </a:pPr>
            <a:r>
              <a:rPr lang="en"/>
              <a:t>it, run a naive version to get a baseline, then tune it, then measure it the same way every time -</a:t>
            </a:r>
            <a:endParaRPr/>
          </a:p>
          <a:p>
            <a:pPr indent="0" lvl="0" marL="0" rtl="0" algn="l">
              <a:spcBef>
                <a:spcPts val="0"/>
              </a:spcBef>
              <a:spcAft>
                <a:spcPts val="0"/>
              </a:spcAft>
              <a:buNone/>
            </a:pPr>
            <a:r>
              <a:rPr lang="en"/>
              <a:t>validation and test - so the comparison on the next few slides is a genuinely fair one.</a:t>
            </a:r>
            <a:endParaRPr/>
          </a:p>
        </p:txBody>
      </p:sp>
      <p:sp>
        <p:nvSpPr>
          <p:cNvPr id="171" name="Google Shape;171;g3f87b62f0be_2_1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f87b62f0be_2_126: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 name="Google Shape;182;g3f87b62f0be_2_1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Every bar pair here shows the tuned version beating the naive version - that alone tells us tuning</a:t>
            </a:r>
            <a:endParaRPr/>
          </a:p>
          <a:p>
            <a:pPr indent="0" lvl="0" marL="0" rtl="0" algn="l">
              <a:spcBef>
                <a:spcPts val="0"/>
              </a:spcBef>
              <a:spcAft>
                <a:spcPts val="0"/>
              </a:spcAft>
              <a:buNone/>
            </a:pPr>
            <a:r>
              <a:rPr lang="en"/>
              <a:t>was worth doing across the board, not just for one lucky model. And DistilBERT's test score, 86.5%,</a:t>
            </a:r>
            <a:endParaRPr/>
          </a:p>
          <a:p>
            <a:pPr indent="0" lvl="0" marL="0" rtl="0" algn="l">
              <a:spcBef>
                <a:spcPts val="0"/>
              </a:spcBef>
              <a:spcAft>
                <a:spcPts val="0"/>
              </a:spcAft>
              <a:buNone/>
            </a:pPr>
            <a:r>
              <a:rPr lang="en"/>
              <a:t>tracks right alongside its validation score of 87.5%, which is a good sign we're not just seeing</a:t>
            </a:r>
            <a:endParaRPr/>
          </a:p>
          <a:p>
            <a:pPr indent="0" lvl="0" marL="0" rtl="0" algn="l">
              <a:spcBef>
                <a:spcPts val="0"/>
              </a:spcBef>
              <a:spcAft>
                <a:spcPts val="0"/>
              </a:spcAft>
              <a:buNone/>
            </a:pPr>
            <a:r>
              <a:rPr lang="en"/>
              <a:t>something that happened to get lucky on the validation set.</a:t>
            </a:r>
            <a:endParaRPr/>
          </a:p>
        </p:txBody>
      </p:sp>
      <p:sp>
        <p:nvSpPr>
          <p:cNvPr id="183" name="Google Shape;183;g3f87b62f0be_2_1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f87b62f0be_2_137: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 name="Google Shape;194;g3f87b62f0be_2_1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Five things worth remembering: tuning always helped, an off-the-shelf embedding actually lost to our</a:t>
            </a:r>
            <a:endParaRPr/>
          </a:p>
          <a:p>
            <a:pPr indent="0" lvl="0" marL="0" rtl="0" algn="l">
              <a:spcBef>
                <a:spcPts val="0"/>
              </a:spcBef>
              <a:spcAft>
                <a:spcPts val="0"/>
              </a:spcAft>
              <a:buNone/>
            </a:pPr>
            <a:r>
              <a:rPr lang="en"/>
              <a:t>own custom model, the character-level model had the single biggest turnaround from tuning, DistilBERT</a:t>
            </a:r>
            <a:endParaRPr/>
          </a:p>
          <a:p>
            <a:pPr indent="0" lvl="0" marL="0" rtl="0" algn="l">
              <a:spcBef>
                <a:spcPts val="0"/>
              </a:spcBef>
              <a:spcAft>
                <a:spcPts val="0"/>
              </a:spcAft>
              <a:buNone/>
            </a:pPr>
            <a:r>
              <a:rPr lang="en"/>
              <a:t>won outright, and its test-set score barely dropped from validation — so we're not looking at a model</a:t>
            </a:r>
            <a:endParaRPr/>
          </a:p>
          <a:p>
            <a:pPr indent="0" lvl="0" marL="0" rtl="0" algn="l">
              <a:spcBef>
                <a:spcPts val="0"/>
              </a:spcBef>
              <a:spcAft>
                <a:spcPts val="0"/>
              </a:spcAft>
              <a:buNone/>
            </a:pPr>
            <a:r>
              <a:rPr lang="en"/>
              <a:t>that just memorized the validation set.</a:t>
            </a:r>
            <a:endParaRPr/>
          </a:p>
        </p:txBody>
      </p:sp>
      <p:sp>
        <p:nvSpPr>
          <p:cNvPr id="195" name="Google Shape;195;g3f87b62f0be_2_13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f87b62f0be_2_147: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 name="Google Shape;205;g3f87b62f0be_2_14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is not a mockup - this is the real trained model, run against a real abstract it had never seen,</a:t>
            </a:r>
            <a:endParaRPr/>
          </a:p>
          <a:p>
            <a:pPr indent="0" lvl="0" marL="0" rtl="0" algn="l">
              <a:spcBef>
                <a:spcPts val="0"/>
              </a:spcBef>
              <a:spcAft>
                <a:spcPts val="0"/>
              </a:spcAft>
              <a:buNone/>
            </a:pPr>
            <a:r>
              <a:rPr lang="en"/>
              <a:t>live in the notebook. Left side is exactly what you'd get pasted from a paper. Right side is what the</a:t>
            </a:r>
            <a:endParaRPr/>
          </a:p>
          <a:p>
            <a:pPr indent="0" lvl="0" marL="0" rtl="0" algn="l">
              <a:spcBef>
                <a:spcPts val="0"/>
              </a:spcBef>
              <a:spcAft>
                <a:spcPts val="0"/>
              </a:spcAft>
              <a:buNone/>
            </a:pPr>
            <a:r>
              <a:rPr lang="en"/>
              <a:t>model produced automatically: Objective, then all five Methods sentences grouped together, then</a:t>
            </a:r>
            <a:endParaRPr/>
          </a:p>
          <a:p>
            <a:pPr indent="0" lvl="0" marL="0" rtl="0" algn="l">
              <a:spcBef>
                <a:spcPts val="0"/>
              </a:spcBef>
              <a:spcAft>
                <a:spcPts val="0"/>
              </a:spcAft>
              <a:buNone/>
            </a:pPr>
            <a:r>
              <a:rPr lang="en"/>
              <a:t>Results - no manual work, no hints about where the boundaries were. That's the entire value</a:t>
            </a:r>
            <a:endParaRPr/>
          </a:p>
          <a:p>
            <a:pPr indent="0" lvl="0" marL="0" rtl="0" algn="l">
              <a:spcBef>
                <a:spcPts val="0"/>
              </a:spcBef>
              <a:spcAft>
                <a:spcPts val="0"/>
              </a:spcAft>
              <a:buNone/>
            </a:pPr>
            <a:r>
              <a:rPr lang="en"/>
              <a:t>proposition of this project in one slide.</a:t>
            </a:r>
            <a:endParaRPr/>
          </a:p>
        </p:txBody>
      </p:sp>
      <p:sp>
        <p:nvSpPr>
          <p:cNvPr id="206" name="Google Shape;206;g3f87b62f0be_2_14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f87b62f0be_2_171: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0" name="Google Shape;220;g3f87b62f0be_2_17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slide is really about translating the accuracy numbers into something that matters day to day:</a:t>
            </a:r>
            <a:endParaRPr/>
          </a:p>
          <a:p>
            <a:pPr indent="0" lvl="0" marL="0" rtl="0" algn="l">
              <a:spcBef>
                <a:spcPts val="0"/>
              </a:spcBef>
              <a:spcAft>
                <a:spcPts val="0"/>
              </a:spcAft>
              <a:buNone/>
            </a:pPr>
            <a:r>
              <a:rPr lang="en"/>
              <a:t>less time spent hunting through paragraphs, and a model that's cheap enough to actually deploy without</a:t>
            </a:r>
            <a:endParaRPr/>
          </a:p>
          <a:p>
            <a:pPr indent="0" lvl="0" marL="0" rtl="0" algn="l">
              <a:spcBef>
                <a:spcPts val="0"/>
              </a:spcBef>
              <a:spcAft>
                <a:spcPts val="0"/>
              </a:spcAft>
              <a:buNone/>
            </a:pPr>
            <a:r>
              <a:rPr lang="en"/>
              <a:t>standing up new infrastructure. It's a one-time training cost, then it's just ours to use.</a:t>
            </a:r>
            <a:endParaRPr/>
          </a:p>
        </p:txBody>
      </p:sp>
      <p:sp>
        <p:nvSpPr>
          <p:cNvPr id="221" name="Google Shape;221;g3f87b62f0be_2_17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f87b62f0be_2_191: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1" name="Google Shape;231;g3f87b62f0be_2_19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Wrap up: five approaches tried, fine-tuned DistilBERT came out on top at 87.5%/86.5%, and we have a</a:t>
            </a:r>
            <a:endParaRPr/>
          </a:p>
          <a:p>
            <a:pPr indent="0" lvl="0" marL="0" rtl="0" algn="l">
              <a:spcBef>
                <a:spcPts val="0"/>
              </a:spcBef>
              <a:spcAft>
                <a:spcPts val="0"/>
              </a:spcAft>
              <a:buNone/>
            </a:pPr>
            <a:r>
              <a:rPr lang="en"/>
              <a:t>working live example to prove it isn't just a number on a slide. Open it up for questions from here.</a:t>
            </a:r>
            <a:endParaRPr/>
          </a:p>
        </p:txBody>
      </p:sp>
      <p:sp>
        <p:nvSpPr>
          <p:cNvPr id="232" name="Google Shape;232;g3f87b62f0be_2_19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8" name="Google Shape;58;p1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Google Shape;59;p1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514364" y="1597819"/>
            <a:ext cx="5829455" cy="1102519"/>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2" name="Google Shape;62;p15"/>
          <p:cNvSpPr txBox="1"/>
          <p:nvPr>
            <p:ph idx="1" type="subTitle"/>
          </p:nvPr>
        </p:nvSpPr>
        <p:spPr>
          <a:xfrm>
            <a:off x="1028727" y="2914650"/>
            <a:ext cx="4800728" cy="1314450"/>
          </a:xfrm>
          <a:prstGeom prst="rect">
            <a:avLst/>
          </a:prstGeom>
          <a:noFill/>
          <a:ln>
            <a:noFill/>
          </a:ln>
        </p:spPr>
        <p:txBody>
          <a:bodyPr anchorCtr="0" anchor="t" bIns="34275" lIns="68575" spcFirstLastPara="1" rIns="68575" wrap="square" tIns="34275">
            <a:normAutofit/>
          </a:bodyPr>
          <a:lstStyle>
            <a:lvl1pPr lvl="0" algn="ctr">
              <a:spcBef>
                <a:spcPts val="50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63" name="Google Shape;63;p15"/>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4" name="Google Shape;64;p15"/>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5" name="Google Shape;65;p15"/>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8" name="Google Shape;68;p16"/>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69" name="Google Shape;69;p16"/>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0" name="Google Shape;70;p16"/>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1" name="Google Shape;71;p16"/>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541749" y="3305175"/>
            <a:ext cx="5829455" cy="1021556"/>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dk1"/>
              </a:buClr>
              <a:buSzPts val="3000"/>
              <a:buFont typeface="Calibri"/>
              <a:buNone/>
              <a:defRPr b="1" sz="30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4" name="Google Shape;74;p17"/>
          <p:cNvSpPr txBox="1"/>
          <p:nvPr>
            <p:ph idx="1" type="body"/>
          </p:nvPr>
        </p:nvSpPr>
        <p:spPr>
          <a:xfrm>
            <a:off x="541749" y="2180035"/>
            <a:ext cx="5829455" cy="1125140"/>
          </a:xfrm>
          <a:prstGeom prst="rect">
            <a:avLst/>
          </a:prstGeom>
          <a:noFill/>
          <a:ln>
            <a:noFill/>
          </a:ln>
        </p:spPr>
        <p:txBody>
          <a:bodyPr anchorCtr="0" anchor="b" bIns="34275" lIns="68575" spcFirstLastPara="1" rIns="68575" wrap="square" tIns="34275">
            <a:normAutofit/>
          </a:bodyPr>
          <a:lstStyle>
            <a:lvl1pPr indent="-228600" lvl="0" marL="457200" algn="l">
              <a:spcBef>
                <a:spcPts val="300"/>
              </a:spcBef>
              <a:spcAft>
                <a:spcPts val="0"/>
              </a:spcAft>
              <a:buClr>
                <a:srgbClr val="888888"/>
              </a:buClr>
              <a:buSzPts val="1500"/>
              <a:buNone/>
              <a:defRPr sz="1500">
                <a:solidFill>
                  <a:srgbClr val="888888"/>
                </a:solidFill>
              </a:defRPr>
            </a:lvl1pPr>
            <a:lvl2pPr indent="-228600" lvl="1" marL="914400" algn="l">
              <a:spcBef>
                <a:spcPts val="300"/>
              </a:spcBef>
              <a:spcAft>
                <a:spcPts val="0"/>
              </a:spcAft>
              <a:buClr>
                <a:srgbClr val="888888"/>
              </a:buClr>
              <a:buSzPts val="1400"/>
              <a:buNone/>
              <a:defRPr sz="1400">
                <a:solidFill>
                  <a:srgbClr val="888888"/>
                </a:solidFill>
              </a:defRPr>
            </a:lvl2pPr>
            <a:lvl3pPr indent="-228600" lvl="2" marL="1371600" algn="l">
              <a:spcBef>
                <a:spcPts val="200"/>
              </a:spcBef>
              <a:spcAft>
                <a:spcPts val="0"/>
              </a:spcAft>
              <a:buClr>
                <a:srgbClr val="888888"/>
              </a:buClr>
              <a:buSzPts val="1200"/>
              <a:buNone/>
              <a:defRPr sz="1200">
                <a:solidFill>
                  <a:srgbClr val="888888"/>
                </a:solidFill>
              </a:defRPr>
            </a:lvl3pPr>
            <a:lvl4pPr indent="-228600" lvl="3" marL="1828800" algn="l">
              <a:spcBef>
                <a:spcPts val="200"/>
              </a:spcBef>
              <a:spcAft>
                <a:spcPts val="0"/>
              </a:spcAft>
              <a:buClr>
                <a:srgbClr val="888888"/>
              </a:buClr>
              <a:buSzPts val="1100"/>
              <a:buNone/>
              <a:defRPr sz="1100">
                <a:solidFill>
                  <a:srgbClr val="888888"/>
                </a:solidFill>
              </a:defRPr>
            </a:lvl4pPr>
            <a:lvl5pPr indent="-228600" lvl="4" marL="2286000" algn="l">
              <a:spcBef>
                <a:spcPts val="200"/>
              </a:spcBef>
              <a:spcAft>
                <a:spcPts val="0"/>
              </a:spcAft>
              <a:buClr>
                <a:srgbClr val="888888"/>
              </a:buClr>
              <a:buSzPts val="1100"/>
              <a:buNone/>
              <a:defRPr sz="1100">
                <a:solidFill>
                  <a:srgbClr val="888888"/>
                </a:solidFill>
              </a:defRPr>
            </a:lvl5pPr>
            <a:lvl6pPr indent="-228600" lvl="5" marL="2743200" algn="l">
              <a:spcBef>
                <a:spcPts val="200"/>
              </a:spcBef>
              <a:spcAft>
                <a:spcPts val="0"/>
              </a:spcAft>
              <a:buClr>
                <a:srgbClr val="888888"/>
              </a:buClr>
              <a:buSzPts val="1100"/>
              <a:buNone/>
              <a:defRPr sz="1100">
                <a:solidFill>
                  <a:srgbClr val="888888"/>
                </a:solidFill>
              </a:defRPr>
            </a:lvl6pPr>
            <a:lvl7pPr indent="-228600" lvl="6" marL="3200400" algn="l">
              <a:spcBef>
                <a:spcPts val="200"/>
              </a:spcBef>
              <a:spcAft>
                <a:spcPts val="0"/>
              </a:spcAft>
              <a:buClr>
                <a:srgbClr val="888888"/>
              </a:buClr>
              <a:buSzPts val="1100"/>
              <a:buNone/>
              <a:defRPr sz="1100">
                <a:solidFill>
                  <a:srgbClr val="888888"/>
                </a:solidFill>
              </a:defRPr>
            </a:lvl7pPr>
            <a:lvl8pPr indent="-228600" lvl="7" marL="3657600" algn="l">
              <a:spcBef>
                <a:spcPts val="200"/>
              </a:spcBef>
              <a:spcAft>
                <a:spcPts val="0"/>
              </a:spcAft>
              <a:buClr>
                <a:srgbClr val="888888"/>
              </a:buClr>
              <a:buSzPts val="1100"/>
              <a:buNone/>
              <a:defRPr sz="1100">
                <a:solidFill>
                  <a:srgbClr val="888888"/>
                </a:solidFill>
              </a:defRPr>
            </a:lvl8pPr>
            <a:lvl9pPr indent="-228600" lvl="8" marL="4114800" algn="l">
              <a:spcBef>
                <a:spcPts val="200"/>
              </a:spcBef>
              <a:spcAft>
                <a:spcPts val="0"/>
              </a:spcAft>
              <a:buClr>
                <a:srgbClr val="888888"/>
              </a:buClr>
              <a:buSzPts val="1100"/>
              <a:buNone/>
              <a:defRPr sz="1100">
                <a:solidFill>
                  <a:srgbClr val="888888"/>
                </a:solidFill>
              </a:defRPr>
            </a:lvl9pPr>
          </a:lstStyle>
          <a:p/>
        </p:txBody>
      </p:sp>
      <p:sp>
        <p:nvSpPr>
          <p:cNvPr id="75" name="Google Shape;75;p17"/>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6" name="Google Shape;76;p17"/>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17"/>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0" name="Google Shape;80;p18"/>
          <p:cNvSpPr txBox="1"/>
          <p:nvPr>
            <p:ph idx="1" type="body"/>
          </p:nvPr>
        </p:nvSpPr>
        <p:spPr>
          <a:xfrm>
            <a:off x="342909"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1" name="Google Shape;81;p18"/>
          <p:cNvSpPr txBox="1"/>
          <p:nvPr>
            <p:ph idx="2" type="body"/>
          </p:nvPr>
        </p:nvSpPr>
        <p:spPr>
          <a:xfrm>
            <a:off x="3486243"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2" name="Google Shape;82;p18"/>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3" name="Google Shape;83;p18"/>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4" name="Google Shape;84;p18"/>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33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7" name="Google Shape;87;p19"/>
          <p:cNvSpPr txBox="1"/>
          <p:nvPr>
            <p:ph idx="1" type="body"/>
          </p:nvPr>
        </p:nvSpPr>
        <p:spPr>
          <a:xfrm>
            <a:off x="342909" y="1151335"/>
            <a:ext cx="3030222"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88" name="Google Shape;88;p19"/>
          <p:cNvSpPr txBox="1"/>
          <p:nvPr>
            <p:ph idx="2" type="body"/>
          </p:nvPr>
        </p:nvSpPr>
        <p:spPr>
          <a:xfrm>
            <a:off x="342909" y="1631156"/>
            <a:ext cx="3030222"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89" name="Google Shape;89;p19"/>
          <p:cNvSpPr txBox="1"/>
          <p:nvPr>
            <p:ph idx="3" type="body"/>
          </p:nvPr>
        </p:nvSpPr>
        <p:spPr>
          <a:xfrm>
            <a:off x="3483862" y="1151335"/>
            <a:ext cx="3031412"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90" name="Google Shape;90;p19"/>
          <p:cNvSpPr txBox="1"/>
          <p:nvPr>
            <p:ph idx="4" type="body"/>
          </p:nvPr>
        </p:nvSpPr>
        <p:spPr>
          <a:xfrm>
            <a:off x="3483862" y="1631156"/>
            <a:ext cx="3031412"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91" name="Google Shape;91;p19"/>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2" name="Google Shape;92;p19"/>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6" name="Google Shape;96;p20"/>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342909" y="204788"/>
            <a:ext cx="2256295" cy="871538"/>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21"/>
          <p:cNvSpPr txBox="1"/>
          <p:nvPr>
            <p:ph idx="1" type="body"/>
          </p:nvPr>
        </p:nvSpPr>
        <p:spPr>
          <a:xfrm>
            <a:off x="2681359" y="204788"/>
            <a:ext cx="3833915" cy="4389835"/>
          </a:xfrm>
          <a:prstGeom prst="rect">
            <a:avLst/>
          </a:prstGeom>
          <a:noFill/>
          <a:ln>
            <a:noFill/>
          </a:ln>
        </p:spPr>
        <p:txBody>
          <a:bodyPr anchorCtr="0" anchor="t" bIns="34275" lIns="68575" spcFirstLastPara="1" rIns="68575" wrap="square" tIns="34275">
            <a:normAutofit/>
          </a:bodyPr>
          <a:lstStyle>
            <a:lvl1pPr indent="-381000" lvl="0" marL="457200" algn="l">
              <a:spcBef>
                <a:spcPts val="500"/>
              </a:spcBef>
              <a:spcAft>
                <a:spcPts val="0"/>
              </a:spcAft>
              <a:buClr>
                <a:schemeClr val="dk1"/>
              </a:buClr>
              <a:buSzPts val="2400"/>
              <a:buChar char="•"/>
              <a:defRPr sz="2400"/>
            </a:lvl1pPr>
            <a:lvl2pPr indent="-361950" lvl="1" marL="914400" algn="l">
              <a:spcBef>
                <a:spcPts val="400"/>
              </a:spcBef>
              <a:spcAft>
                <a:spcPts val="0"/>
              </a:spcAft>
              <a:buClr>
                <a:schemeClr val="dk1"/>
              </a:buClr>
              <a:buSzPts val="2100"/>
              <a:buChar char="–"/>
              <a:defRPr sz="2100"/>
            </a:lvl2pPr>
            <a:lvl3pPr indent="-342900" lvl="2" marL="1371600" algn="l">
              <a:spcBef>
                <a:spcPts val="400"/>
              </a:spcBef>
              <a:spcAft>
                <a:spcPts val="0"/>
              </a:spcAft>
              <a:buClr>
                <a:schemeClr val="dk1"/>
              </a:buClr>
              <a:buSzPts val="1800"/>
              <a:buChar char="•"/>
              <a:defRPr sz="18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102" name="Google Shape;102;p21"/>
          <p:cNvSpPr txBox="1"/>
          <p:nvPr>
            <p:ph idx="2" type="body"/>
          </p:nvPr>
        </p:nvSpPr>
        <p:spPr>
          <a:xfrm>
            <a:off x="342909" y="1076325"/>
            <a:ext cx="2256295" cy="351829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03" name="Google Shape;103;p21"/>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344252" y="3600450"/>
            <a:ext cx="4114910" cy="425054"/>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2"/>
          <p:cNvSpPr/>
          <p:nvPr>
            <p:ph idx="2" type="pic"/>
          </p:nvPr>
        </p:nvSpPr>
        <p:spPr>
          <a:xfrm>
            <a:off x="1344252" y="459581"/>
            <a:ext cx="4114910" cy="3086100"/>
          </a:xfrm>
          <a:prstGeom prst="rect">
            <a:avLst/>
          </a:prstGeom>
          <a:noFill/>
          <a:ln>
            <a:noFill/>
          </a:ln>
        </p:spPr>
      </p:sp>
      <p:sp>
        <p:nvSpPr>
          <p:cNvPr id="109" name="Google Shape;109;p22"/>
          <p:cNvSpPr txBox="1"/>
          <p:nvPr>
            <p:ph idx="1" type="body"/>
          </p:nvPr>
        </p:nvSpPr>
        <p:spPr>
          <a:xfrm>
            <a:off x="1344252" y="4025503"/>
            <a:ext cx="4114910" cy="60364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10" name="Google Shape;110;p22"/>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3"/>
          <p:cNvSpPr txBox="1"/>
          <p:nvPr>
            <p:ph idx="1" type="body"/>
          </p:nvPr>
        </p:nvSpPr>
        <p:spPr>
          <a:xfrm rot="5400000">
            <a:off x="1731855" y="-188796"/>
            <a:ext cx="3394472" cy="6172365"/>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16" name="Google Shape;116;p2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3549406" y="1628755"/>
            <a:ext cx="4388644" cy="1543091"/>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4"/>
          <p:cNvSpPr txBox="1"/>
          <p:nvPr>
            <p:ph idx="1" type="body"/>
          </p:nvPr>
        </p:nvSpPr>
        <p:spPr>
          <a:xfrm rot="5400000">
            <a:off x="406072" y="142815"/>
            <a:ext cx="4388644" cy="451497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22" name="Google Shape;122;p2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marR="0" rtl="0" algn="ctr">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81000" lvl="0" marL="457200" marR="0" rtl="0" algn="l">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p:nvPr/>
        </p:nvSpPr>
        <p:spPr>
          <a:xfrm>
            <a:off x="0" y="0"/>
            <a:ext cx="9144015" cy="51435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1" name="Google Shape;131;p25"/>
          <p:cNvSpPr/>
          <p:nvPr/>
        </p:nvSpPr>
        <p:spPr>
          <a:xfrm>
            <a:off x="0" y="0"/>
            <a:ext cx="9144015" cy="5143500"/>
          </a:xfrm>
          <a:prstGeom prst="rect">
            <a:avLst/>
          </a:prstGeom>
          <a:solidFill>
            <a:srgbClr val="2A78D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2" name="Google Shape;132;p25"/>
          <p:cNvSpPr txBox="1"/>
          <p:nvPr/>
        </p:nvSpPr>
        <p:spPr>
          <a:xfrm>
            <a:off x="685818" y="1714500"/>
            <a:ext cx="7749747" cy="6172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600" u="none" cap="none" strike="noStrike">
                <a:solidFill>
                  <a:srgbClr val="FFFFFF"/>
                </a:solidFill>
                <a:latin typeface="Calibri"/>
                <a:ea typeface="Calibri"/>
                <a:cs typeface="Calibri"/>
                <a:sym typeface="Calibri"/>
              </a:rPr>
              <a:t>Making Medical Abstracts Easier to Read</a:t>
            </a:r>
            <a:endParaRPr sz="1100"/>
          </a:p>
        </p:txBody>
      </p:sp>
      <p:sp>
        <p:nvSpPr>
          <p:cNvPr id="133" name="Google Shape;133;p25"/>
          <p:cNvSpPr txBox="1"/>
          <p:nvPr/>
        </p:nvSpPr>
        <p:spPr>
          <a:xfrm>
            <a:off x="685818" y="2434590"/>
            <a:ext cx="7749747" cy="5486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500" u="none" cap="none" strike="noStrike">
                <a:solidFill>
                  <a:srgbClr val="FFFFFF"/>
                </a:solidFill>
                <a:latin typeface="Calibri"/>
                <a:ea typeface="Calibri"/>
                <a:cs typeface="Calibri"/>
                <a:sym typeface="Calibri"/>
              </a:rPr>
              <a:t>Sequential Sentence Classification  —  PubMed 20k RCT Capstone Project</a:t>
            </a:r>
            <a:endParaRPr sz="1100"/>
          </a:p>
        </p:txBody>
      </p:sp>
      <p:sp>
        <p:nvSpPr>
          <p:cNvPr id="134" name="Google Shape;134;p25"/>
          <p:cNvSpPr txBox="1"/>
          <p:nvPr/>
        </p:nvSpPr>
        <p:spPr>
          <a:xfrm>
            <a:off x="685818" y="4320540"/>
            <a:ext cx="7749747" cy="4114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200" u="none" cap="none" strike="noStrike">
                <a:solidFill>
                  <a:srgbClr val="FFFFFF"/>
                </a:solidFill>
                <a:latin typeface="Calibri"/>
                <a:ea typeface="Calibri"/>
                <a:cs typeface="Calibri"/>
                <a:sym typeface="Calibri"/>
              </a:rPr>
              <a:t>Ramachandra Udupa   |   Employee ID: 290997</a:t>
            </a:r>
            <a:endParaRPr sz="1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6"/>
          <p:cNvSpPr/>
          <p:nvPr/>
        </p:nvSpPr>
        <p:spPr>
          <a:xfrm>
            <a:off x="0" y="0"/>
            <a:ext cx="9144015" cy="51435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41" name="Google Shape;141;p26"/>
          <p:cNvSpPr/>
          <p:nvPr/>
        </p:nvSpPr>
        <p:spPr>
          <a:xfrm>
            <a:off x="0" y="0"/>
            <a:ext cx="123447" cy="788670"/>
          </a:xfrm>
          <a:prstGeom prst="rect">
            <a:avLst/>
          </a:prstGeom>
          <a:solidFill>
            <a:srgbClr val="2A78D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42" name="Google Shape;142;p26"/>
          <p:cNvSpPr txBox="1"/>
          <p:nvPr/>
        </p:nvSpPr>
        <p:spPr>
          <a:xfrm>
            <a:off x="377200" y="123444"/>
            <a:ext cx="836698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300" u="none" cap="none" strike="noStrike">
                <a:solidFill>
                  <a:srgbClr val="0B0B0B"/>
                </a:solidFill>
                <a:latin typeface="Calibri"/>
                <a:ea typeface="Calibri"/>
                <a:cs typeface="Calibri"/>
                <a:sym typeface="Calibri"/>
              </a:rPr>
              <a:t>The Problem</a:t>
            </a:r>
            <a:endParaRPr sz="1100"/>
          </a:p>
        </p:txBody>
      </p:sp>
      <p:sp>
        <p:nvSpPr>
          <p:cNvPr id="143" name="Google Shape;143;p26"/>
          <p:cNvSpPr/>
          <p:nvPr/>
        </p:nvSpPr>
        <p:spPr>
          <a:xfrm>
            <a:off x="377200" y="768096"/>
            <a:ext cx="2057455" cy="28575"/>
          </a:xfrm>
          <a:prstGeom prst="rect">
            <a:avLst/>
          </a:prstGeom>
          <a:solidFill>
            <a:srgbClr val="2A78D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44" name="Google Shape;144;p26"/>
          <p:cNvSpPr txBox="1"/>
          <p:nvPr/>
        </p:nvSpPr>
        <p:spPr>
          <a:xfrm>
            <a:off x="480073" y="1028700"/>
            <a:ext cx="8161200" cy="217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rgbClr val="0B0B0B"/>
                </a:solidFill>
                <a:latin typeface="Calibri"/>
                <a:ea typeface="Calibri"/>
                <a:cs typeface="Calibri"/>
                <a:sym typeface="Calibri"/>
              </a:rPr>
              <a:t>•  Medical research abstracts pack Background, Objective, Methods, Results, and Conclusions into one dense, unlabeled paragraph </a:t>
            </a:r>
            <a:r>
              <a:rPr lang="en">
                <a:solidFill>
                  <a:srgbClr val="0B0B0B"/>
                </a:solidFill>
                <a:latin typeface="Calibri"/>
                <a:ea typeface="Calibri"/>
                <a:cs typeface="Calibri"/>
                <a:sym typeface="Calibri"/>
              </a:rPr>
              <a:t>- </a:t>
            </a:r>
            <a:r>
              <a:rPr lang="en" sz="1400">
                <a:solidFill>
                  <a:srgbClr val="0B0B0B"/>
                </a:solidFill>
                <a:latin typeface="Calibri"/>
                <a:ea typeface="Calibri"/>
                <a:cs typeface="Calibri"/>
                <a:sym typeface="Calibri"/>
              </a:rPr>
              <a:t> typically 200 to 300 words with zero visual separation between sections.</a:t>
            </a:r>
            <a:endParaRPr sz="1100"/>
          </a:p>
          <a:p>
            <a:pPr indent="0" lvl="0" marL="0" marR="0" rtl="0" algn="l">
              <a:spcBef>
                <a:spcPts val="1000"/>
              </a:spcBef>
              <a:spcAft>
                <a:spcPts val="0"/>
              </a:spcAft>
              <a:buNone/>
            </a:pPr>
            <a:r>
              <a:rPr lang="en" sz="1400">
                <a:solidFill>
                  <a:srgbClr val="0B0B0B"/>
                </a:solidFill>
                <a:latin typeface="Calibri"/>
                <a:ea typeface="Calibri"/>
                <a:cs typeface="Calibri"/>
                <a:sym typeface="Calibri"/>
              </a:rPr>
              <a:t>•  Anyone reviewing a paper </a:t>
            </a:r>
            <a:r>
              <a:rPr lang="en">
                <a:solidFill>
                  <a:srgbClr val="0B0B0B"/>
                </a:solidFill>
                <a:latin typeface="Calibri"/>
                <a:ea typeface="Calibri"/>
                <a:cs typeface="Calibri"/>
                <a:sym typeface="Calibri"/>
              </a:rPr>
              <a:t>- </a:t>
            </a:r>
            <a:r>
              <a:rPr lang="en" sz="1400">
                <a:solidFill>
                  <a:srgbClr val="0B0B0B"/>
                </a:solidFill>
                <a:latin typeface="Calibri"/>
                <a:ea typeface="Calibri"/>
                <a:cs typeface="Calibri"/>
                <a:sym typeface="Calibri"/>
              </a:rPr>
              <a:t> a clinician, a researcher, anyone doing a literature review — has to read the whole thing just to find the one part they actually need.</a:t>
            </a:r>
            <a:endParaRPr sz="1100"/>
          </a:p>
          <a:p>
            <a:pPr indent="0" lvl="0" marL="0" marR="0" rtl="0" algn="l">
              <a:spcBef>
                <a:spcPts val="1000"/>
              </a:spcBef>
              <a:spcAft>
                <a:spcPts val="0"/>
              </a:spcAft>
              <a:buNone/>
            </a:pPr>
            <a:r>
              <a:rPr lang="en" sz="1400">
                <a:solidFill>
                  <a:srgbClr val="0B0B0B"/>
                </a:solidFill>
                <a:latin typeface="Calibri"/>
                <a:ea typeface="Calibri"/>
                <a:cs typeface="Calibri"/>
                <a:sym typeface="Calibri"/>
              </a:rPr>
              <a:t>•  That's a real bottleneck for systematic reviews and meta-analyses, where someone might need to scan hundreds or thousands of abstracts in one pass.</a:t>
            </a:r>
            <a:endParaRPr sz="1100"/>
          </a:p>
          <a:p>
            <a:pPr indent="0" lvl="0" marL="0" marR="0" rtl="0" algn="l">
              <a:spcBef>
                <a:spcPts val="1000"/>
              </a:spcBef>
              <a:spcAft>
                <a:spcPts val="0"/>
              </a:spcAft>
              <a:buNone/>
            </a:pPr>
            <a:r>
              <a:rPr lang="en" sz="1400">
                <a:solidFill>
                  <a:srgbClr val="0B0B0B"/>
                </a:solidFill>
                <a:latin typeface="Calibri"/>
                <a:ea typeface="Calibri"/>
                <a:cs typeface="Calibri"/>
                <a:sym typeface="Calibri"/>
              </a:rPr>
              <a:t>•  A handful of journals format their abstracts with section headers already, but most don't, and there's no practical way to retrofit the existing literature by hand.</a:t>
            </a:r>
            <a:endParaRPr sz="1100"/>
          </a:p>
        </p:txBody>
      </p:sp>
      <p:sp>
        <p:nvSpPr>
          <p:cNvPr id="145" name="Google Shape;145;p26"/>
          <p:cNvSpPr txBox="1"/>
          <p:nvPr/>
        </p:nvSpPr>
        <p:spPr>
          <a:xfrm>
            <a:off x="8161238" y="4869180"/>
            <a:ext cx="822982" cy="20574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lang="en" sz="800">
                <a:solidFill>
                  <a:srgbClr val="52514E"/>
                </a:solidFill>
                <a:latin typeface="Calibri"/>
                <a:ea typeface="Calibri"/>
                <a:cs typeface="Calibri"/>
                <a:sym typeface="Calibri"/>
              </a:rPr>
              <a:t>1</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7"/>
          <p:cNvSpPr/>
          <p:nvPr/>
        </p:nvSpPr>
        <p:spPr>
          <a:xfrm>
            <a:off x="0" y="0"/>
            <a:ext cx="9144015" cy="51435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52" name="Google Shape;152;p27"/>
          <p:cNvSpPr/>
          <p:nvPr/>
        </p:nvSpPr>
        <p:spPr>
          <a:xfrm>
            <a:off x="0" y="0"/>
            <a:ext cx="123447" cy="788670"/>
          </a:xfrm>
          <a:prstGeom prst="rect">
            <a:avLst/>
          </a:prstGeom>
          <a:solidFill>
            <a:srgbClr val="EB683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53" name="Google Shape;153;p27"/>
          <p:cNvSpPr txBox="1"/>
          <p:nvPr/>
        </p:nvSpPr>
        <p:spPr>
          <a:xfrm>
            <a:off x="377200" y="123444"/>
            <a:ext cx="836698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300">
                <a:solidFill>
                  <a:srgbClr val="0B0B0B"/>
                </a:solidFill>
                <a:latin typeface="Calibri"/>
                <a:ea typeface="Calibri"/>
                <a:cs typeface="Calibri"/>
                <a:sym typeface="Calibri"/>
              </a:rPr>
              <a:t>The Idea</a:t>
            </a:r>
            <a:endParaRPr sz="1100"/>
          </a:p>
        </p:txBody>
      </p:sp>
      <p:sp>
        <p:nvSpPr>
          <p:cNvPr id="154" name="Google Shape;154;p27"/>
          <p:cNvSpPr/>
          <p:nvPr/>
        </p:nvSpPr>
        <p:spPr>
          <a:xfrm>
            <a:off x="377200" y="768096"/>
            <a:ext cx="2057455" cy="28575"/>
          </a:xfrm>
          <a:prstGeom prst="rect">
            <a:avLst/>
          </a:prstGeom>
          <a:solidFill>
            <a:srgbClr val="EB683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55" name="Google Shape;155;p27"/>
          <p:cNvSpPr txBox="1"/>
          <p:nvPr/>
        </p:nvSpPr>
        <p:spPr>
          <a:xfrm>
            <a:off x="480073" y="1028700"/>
            <a:ext cx="8161200" cy="217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rgbClr val="0B0B0B"/>
                </a:solidFill>
                <a:latin typeface="Calibri"/>
                <a:ea typeface="Calibri"/>
                <a:cs typeface="Calibri"/>
                <a:sym typeface="Calibri"/>
              </a:rPr>
              <a:t>•  Build a model that reads an abstract one sentence at a time and tags each one: Background, Objective, Methods, Results, or Conclusions.</a:t>
            </a:r>
            <a:endParaRPr sz="1100"/>
          </a:p>
          <a:p>
            <a:pPr indent="0" lvl="0" marL="0" marR="0" rtl="0" algn="l">
              <a:spcBef>
                <a:spcPts val="1000"/>
              </a:spcBef>
              <a:spcAft>
                <a:spcPts val="0"/>
              </a:spcAft>
              <a:buNone/>
            </a:pPr>
            <a:r>
              <a:rPr lang="en" sz="1400">
                <a:solidFill>
                  <a:srgbClr val="0B0B0B"/>
                </a:solidFill>
                <a:latin typeface="Calibri"/>
                <a:ea typeface="Calibri"/>
                <a:cs typeface="Calibri"/>
                <a:sym typeface="Calibri"/>
              </a:rPr>
              <a:t>•  Once every sentence is tagged, we can automatically reformat the abstract into a clean, scannable structure </a:t>
            </a:r>
            <a:r>
              <a:rPr lang="en">
                <a:solidFill>
                  <a:srgbClr val="0B0B0B"/>
                </a:solidFill>
                <a:latin typeface="Calibri"/>
                <a:ea typeface="Calibri"/>
                <a:cs typeface="Calibri"/>
                <a:sym typeface="Calibri"/>
              </a:rPr>
              <a:t> - </a:t>
            </a:r>
            <a:r>
              <a:rPr lang="en" sz="1400">
                <a:solidFill>
                  <a:srgbClr val="0B0B0B"/>
                </a:solidFill>
                <a:latin typeface="Calibri"/>
                <a:ea typeface="Calibri"/>
                <a:cs typeface="Calibri"/>
                <a:sym typeface="Calibri"/>
              </a:rPr>
              <a:t>no manual editing needed.</a:t>
            </a:r>
            <a:endParaRPr sz="1100"/>
          </a:p>
          <a:p>
            <a:pPr indent="0" lvl="0" marL="0" marR="0" rtl="0" algn="l">
              <a:spcBef>
                <a:spcPts val="1000"/>
              </a:spcBef>
              <a:spcAft>
                <a:spcPts val="0"/>
              </a:spcAft>
              <a:buNone/>
            </a:pPr>
            <a:r>
              <a:rPr lang="en" sz="1400">
                <a:solidFill>
                  <a:srgbClr val="0B0B0B"/>
                </a:solidFill>
                <a:latin typeface="Calibri"/>
                <a:ea typeface="Calibri"/>
                <a:cs typeface="Calibri"/>
                <a:sym typeface="Calibri"/>
              </a:rPr>
              <a:t>•  This is what's called sequential sentence classification: each sentence gets its own label, but the model still gets to consider it in the context of the sentences around it.</a:t>
            </a:r>
            <a:endParaRPr sz="1100"/>
          </a:p>
          <a:p>
            <a:pPr indent="0" lvl="0" marL="0" marR="0" rtl="0" algn="l">
              <a:spcBef>
                <a:spcPts val="1000"/>
              </a:spcBef>
              <a:spcAft>
                <a:spcPts val="0"/>
              </a:spcAft>
              <a:buNone/>
            </a:pPr>
            <a:r>
              <a:rPr lang="en" sz="1400">
                <a:solidFill>
                  <a:srgbClr val="0B0B0B"/>
                </a:solidFill>
                <a:latin typeface="Calibri"/>
                <a:ea typeface="Calibri"/>
                <a:cs typeface="Calibri"/>
                <a:sym typeface="Calibri"/>
              </a:rPr>
              <a:t>•  The end output isn't just a set of labels </a:t>
            </a:r>
            <a:r>
              <a:rPr lang="en">
                <a:solidFill>
                  <a:srgbClr val="0B0B0B"/>
                </a:solidFill>
                <a:latin typeface="Calibri"/>
                <a:ea typeface="Calibri"/>
                <a:cs typeface="Calibri"/>
                <a:sym typeface="Calibri"/>
              </a:rPr>
              <a:t>- </a:t>
            </a:r>
            <a:r>
              <a:rPr lang="en" sz="1400">
                <a:solidFill>
                  <a:srgbClr val="0B0B0B"/>
                </a:solidFill>
                <a:latin typeface="Calibri"/>
                <a:ea typeface="Calibri"/>
                <a:cs typeface="Calibri"/>
                <a:sym typeface="Calibri"/>
              </a:rPr>
              <a:t> it's a genuinely more readable document, ready to hand to anyone who needs to skim it fast.</a:t>
            </a:r>
            <a:endParaRPr sz="1100"/>
          </a:p>
        </p:txBody>
      </p:sp>
      <p:sp>
        <p:nvSpPr>
          <p:cNvPr id="156" name="Google Shape;156;p27"/>
          <p:cNvSpPr txBox="1"/>
          <p:nvPr/>
        </p:nvSpPr>
        <p:spPr>
          <a:xfrm>
            <a:off x="8161238" y="4869180"/>
            <a:ext cx="822982" cy="20574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lang="en" sz="800">
                <a:solidFill>
                  <a:srgbClr val="52514E"/>
                </a:solidFill>
                <a:latin typeface="Calibri"/>
                <a:ea typeface="Calibri"/>
                <a:cs typeface="Calibri"/>
                <a:sym typeface="Calibri"/>
              </a:rPr>
              <a:t>2</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8"/>
          <p:cNvSpPr/>
          <p:nvPr/>
        </p:nvSpPr>
        <p:spPr>
          <a:xfrm>
            <a:off x="0" y="0"/>
            <a:ext cx="9144015" cy="51435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63" name="Google Shape;163;p28"/>
          <p:cNvSpPr/>
          <p:nvPr/>
        </p:nvSpPr>
        <p:spPr>
          <a:xfrm>
            <a:off x="0" y="0"/>
            <a:ext cx="123447" cy="788670"/>
          </a:xfrm>
          <a:prstGeom prst="rect">
            <a:avLst/>
          </a:prstGeom>
          <a:solidFill>
            <a:srgbClr val="2A78D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64" name="Google Shape;164;p28"/>
          <p:cNvSpPr txBox="1"/>
          <p:nvPr/>
        </p:nvSpPr>
        <p:spPr>
          <a:xfrm>
            <a:off x="377200" y="123444"/>
            <a:ext cx="836698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300">
                <a:solidFill>
                  <a:srgbClr val="0B0B0B"/>
                </a:solidFill>
                <a:latin typeface="Calibri"/>
                <a:ea typeface="Calibri"/>
                <a:cs typeface="Calibri"/>
                <a:sym typeface="Calibri"/>
              </a:rPr>
              <a:t>The Data</a:t>
            </a:r>
            <a:endParaRPr sz="1100"/>
          </a:p>
        </p:txBody>
      </p:sp>
      <p:sp>
        <p:nvSpPr>
          <p:cNvPr id="165" name="Google Shape;165;p28"/>
          <p:cNvSpPr/>
          <p:nvPr/>
        </p:nvSpPr>
        <p:spPr>
          <a:xfrm>
            <a:off x="377200" y="768096"/>
            <a:ext cx="2057455" cy="28575"/>
          </a:xfrm>
          <a:prstGeom prst="rect">
            <a:avLst/>
          </a:prstGeom>
          <a:solidFill>
            <a:srgbClr val="2A78D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66" name="Google Shape;166;p28"/>
          <p:cNvSpPr txBox="1"/>
          <p:nvPr/>
        </p:nvSpPr>
        <p:spPr>
          <a:xfrm>
            <a:off x="480073" y="1028700"/>
            <a:ext cx="8161200" cy="2685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rgbClr val="0B0B0B"/>
                </a:solidFill>
                <a:latin typeface="Calibri"/>
                <a:ea typeface="Calibri"/>
                <a:cs typeface="Calibri"/>
                <a:sym typeface="Calibri"/>
              </a:rPr>
              <a:t>•  PubMed 20k RCT: a public dataset of real randomized controlled trial abstracts pulled from PubMed.</a:t>
            </a:r>
            <a:endParaRPr sz="1100"/>
          </a:p>
          <a:p>
            <a:pPr indent="0" lvl="0" marL="0" marR="0" rtl="0" algn="l">
              <a:spcBef>
                <a:spcPts val="1000"/>
              </a:spcBef>
              <a:spcAft>
                <a:spcPts val="0"/>
              </a:spcAft>
              <a:buNone/>
            </a:pPr>
            <a:r>
              <a:rPr b="1" lang="en" sz="1400">
                <a:solidFill>
                  <a:srgbClr val="0B0B0B"/>
                </a:solidFill>
                <a:latin typeface="Calibri"/>
                <a:ea typeface="Calibri"/>
                <a:cs typeface="Calibri"/>
                <a:sym typeface="Calibri"/>
              </a:rPr>
              <a:t>•  About 20,000 abstracts in total,  </a:t>
            </a:r>
            <a:r>
              <a:rPr lang="en" sz="1400">
                <a:solidFill>
                  <a:srgbClr val="52514E"/>
                </a:solidFill>
                <a:latin typeface="Calibri"/>
                <a:ea typeface="Calibri"/>
                <a:cs typeface="Calibri"/>
                <a:sym typeface="Calibri"/>
              </a:rPr>
              <a:t>already broken down sentence by sentence, with every sentence hand-labeled into one of our five categories.</a:t>
            </a:r>
            <a:endParaRPr sz="1100"/>
          </a:p>
          <a:p>
            <a:pPr indent="0" lvl="0" marL="0" marR="0" rtl="0" algn="l">
              <a:spcBef>
                <a:spcPts val="1000"/>
              </a:spcBef>
              <a:spcAft>
                <a:spcPts val="0"/>
              </a:spcAft>
              <a:buNone/>
            </a:pPr>
            <a:r>
              <a:rPr b="1" lang="en" sz="1400">
                <a:solidFill>
                  <a:srgbClr val="0B0B0B"/>
                </a:solidFill>
                <a:latin typeface="Calibri"/>
                <a:ea typeface="Calibri"/>
                <a:cs typeface="Calibri"/>
                <a:sym typeface="Calibri"/>
              </a:rPr>
              <a:t>•  Split three ways, on purpose:  </a:t>
            </a:r>
            <a:endParaRPr sz="1100"/>
          </a:p>
          <a:p>
            <a:pPr indent="0" lvl="1" marL="342900" marR="0" rtl="0" algn="l">
              <a:spcBef>
                <a:spcPts val="1000"/>
              </a:spcBef>
              <a:spcAft>
                <a:spcPts val="0"/>
              </a:spcAft>
              <a:buNone/>
            </a:pPr>
            <a:r>
              <a:rPr b="0" i="0" lang="en" sz="1200" u="none" cap="none" strike="noStrike">
                <a:solidFill>
                  <a:srgbClr val="52514E"/>
                </a:solidFill>
                <a:latin typeface="Calibri"/>
                <a:ea typeface="Calibri"/>
                <a:cs typeface="Calibri"/>
                <a:sym typeface="Calibri"/>
              </a:rPr>
              <a:t>Training set </a:t>
            </a:r>
            <a:r>
              <a:rPr lang="en" sz="1200">
                <a:solidFill>
                  <a:srgbClr val="52514E"/>
                </a:solidFill>
                <a:latin typeface="Calibri"/>
                <a:ea typeface="Calibri"/>
                <a:cs typeface="Calibri"/>
                <a:sym typeface="Calibri"/>
              </a:rPr>
              <a:t>- </a:t>
            </a:r>
            <a:r>
              <a:rPr b="0" i="0" lang="en" sz="1200" u="none" cap="none" strike="noStrike">
                <a:solidFill>
                  <a:srgbClr val="52514E"/>
                </a:solidFill>
                <a:latin typeface="Calibri"/>
                <a:ea typeface="Calibri"/>
                <a:cs typeface="Calibri"/>
                <a:sym typeface="Calibri"/>
              </a:rPr>
              <a:t>180,040 sentences the models actually learn from.</a:t>
            </a:r>
            <a:endParaRPr sz="1100"/>
          </a:p>
          <a:p>
            <a:pPr indent="0" lvl="1" marL="342900" marR="0" rtl="0" algn="l">
              <a:spcBef>
                <a:spcPts val="1000"/>
              </a:spcBef>
              <a:spcAft>
                <a:spcPts val="0"/>
              </a:spcAft>
              <a:buNone/>
            </a:pPr>
            <a:r>
              <a:rPr b="0" i="0" lang="en" sz="1200" u="none" cap="none" strike="noStrike">
                <a:solidFill>
                  <a:srgbClr val="52514E"/>
                </a:solidFill>
                <a:latin typeface="Calibri"/>
                <a:ea typeface="Calibri"/>
                <a:cs typeface="Calibri"/>
                <a:sym typeface="Calibri"/>
              </a:rPr>
              <a:t>Validation set </a:t>
            </a:r>
            <a:r>
              <a:rPr lang="en" sz="1200">
                <a:solidFill>
                  <a:srgbClr val="52514E"/>
                </a:solidFill>
                <a:latin typeface="Calibri"/>
                <a:ea typeface="Calibri"/>
                <a:cs typeface="Calibri"/>
                <a:sym typeface="Calibri"/>
              </a:rPr>
              <a:t>- </a:t>
            </a:r>
            <a:r>
              <a:rPr b="0" i="0" lang="en" sz="1200" u="none" cap="none" strike="noStrike">
                <a:solidFill>
                  <a:srgbClr val="52514E"/>
                </a:solidFill>
                <a:latin typeface="Calibri"/>
                <a:ea typeface="Calibri"/>
                <a:cs typeface="Calibri"/>
                <a:sym typeface="Calibri"/>
              </a:rPr>
              <a:t>30,212 sentences used to tune and compare models along the way.</a:t>
            </a:r>
            <a:endParaRPr sz="1100"/>
          </a:p>
          <a:p>
            <a:pPr indent="0" lvl="1" marL="342900" marR="0" rtl="0" algn="l">
              <a:spcBef>
                <a:spcPts val="1000"/>
              </a:spcBef>
              <a:spcAft>
                <a:spcPts val="0"/>
              </a:spcAft>
              <a:buNone/>
            </a:pPr>
            <a:r>
              <a:rPr b="0" i="0" lang="en" sz="1200" u="none" cap="none" strike="noStrike">
                <a:solidFill>
                  <a:srgbClr val="52514E"/>
                </a:solidFill>
                <a:latin typeface="Calibri"/>
                <a:ea typeface="Calibri"/>
                <a:cs typeface="Calibri"/>
                <a:sym typeface="Calibri"/>
              </a:rPr>
              <a:t>Test set </a:t>
            </a:r>
            <a:r>
              <a:rPr lang="en" sz="1200">
                <a:solidFill>
                  <a:srgbClr val="52514E"/>
                </a:solidFill>
                <a:latin typeface="Calibri"/>
                <a:ea typeface="Calibri"/>
                <a:cs typeface="Calibri"/>
                <a:sym typeface="Calibri"/>
              </a:rPr>
              <a:t> - </a:t>
            </a:r>
            <a:r>
              <a:rPr b="0" i="0" lang="en" sz="1200" u="none" cap="none" strike="noStrike">
                <a:solidFill>
                  <a:srgbClr val="52514E"/>
                </a:solidFill>
                <a:latin typeface="Calibri"/>
                <a:ea typeface="Calibri"/>
                <a:cs typeface="Calibri"/>
                <a:sym typeface="Calibri"/>
              </a:rPr>
              <a:t>30,135 sentences, held back and checked only once, at the very end.</a:t>
            </a:r>
            <a:endParaRPr sz="1100"/>
          </a:p>
          <a:p>
            <a:pPr indent="0" lvl="0" marL="0" marR="0" rtl="0" algn="l">
              <a:spcBef>
                <a:spcPts val="1000"/>
              </a:spcBef>
              <a:spcAft>
                <a:spcPts val="0"/>
              </a:spcAft>
              <a:buNone/>
            </a:pPr>
            <a:r>
              <a:rPr lang="en" sz="1400">
                <a:solidFill>
                  <a:srgbClr val="0B0B0B"/>
                </a:solidFill>
                <a:latin typeface="Calibri"/>
                <a:ea typeface="Calibri"/>
                <a:cs typeface="Calibri"/>
                <a:sym typeface="Calibri"/>
              </a:rPr>
              <a:t>•  The five labels </a:t>
            </a:r>
            <a:r>
              <a:rPr lang="en">
                <a:solidFill>
                  <a:srgbClr val="0B0B0B"/>
                </a:solidFill>
                <a:latin typeface="Calibri"/>
                <a:ea typeface="Calibri"/>
                <a:cs typeface="Calibri"/>
                <a:sym typeface="Calibri"/>
              </a:rPr>
              <a:t>- </a:t>
            </a:r>
            <a:r>
              <a:rPr lang="en" sz="1400">
                <a:solidFill>
                  <a:srgbClr val="0B0B0B"/>
                </a:solidFill>
                <a:latin typeface="Calibri"/>
                <a:ea typeface="Calibri"/>
                <a:cs typeface="Calibri"/>
                <a:sym typeface="Calibri"/>
              </a:rPr>
              <a:t> Background, Objective, Methods, Results, Conclusions </a:t>
            </a:r>
            <a:r>
              <a:rPr lang="en">
                <a:solidFill>
                  <a:srgbClr val="0B0B0B"/>
                </a:solidFill>
                <a:latin typeface="Calibri"/>
                <a:ea typeface="Calibri"/>
                <a:cs typeface="Calibri"/>
                <a:sym typeface="Calibri"/>
              </a:rPr>
              <a:t>- </a:t>
            </a:r>
            <a:r>
              <a:rPr lang="en" sz="1400">
                <a:solidFill>
                  <a:srgbClr val="0B0B0B"/>
                </a:solidFill>
                <a:latin typeface="Calibri"/>
                <a:ea typeface="Calibri"/>
                <a:cs typeface="Calibri"/>
                <a:sym typeface="Calibri"/>
              </a:rPr>
              <a:t> and nothing else, so every sentence has to fit one of these.</a:t>
            </a:r>
            <a:endParaRPr sz="1100"/>
          </a:p>
        </p:txBody>
      </p:sp>
      <p:sp>
        <p:nvSpPr>
          <p:cNvPr id="167" name="Google Shape;167;p28"/>
          <p:cNvSpPr txBox="1"/>
          <p:nvPr/>
        </p:nvSpPr>
        <p:spPr>
          <a:xfrm>
            <a:off x="8161238" y="4869180"/>
            <a:ext cx="822982" cy="20574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lang="en" sz="800">
                <a:solidFill>
                  <a:srgbClr val="52514E"/>
                </a:solidFill>
                <a:latin typeface="Calibri"/>
                <a:ea typeface="Calibri"/>
                <a:cs typeface="Calibri"/>
                <a:sym typeface="Calibri"/>
              </a:rPr>
              <a:t>3</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9"/>
          <p:cNvSpPr/>
          <p:nvPr/>
        </p:nvSpPr>
        <p:spPr>
          <a:xfrm>
            <a:off x="0" y="0"/>
            <a:ext cx="9144015" cy="51435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74" name="Google Shape;174;p29"/>
          <p:cNvSpPr/>
          <p:nvPr/>
        </p:nvSpPr>
        <p:spPr>
          <a:xfrm>
            <a:off x="0" y="0"/>
            <a:ext cx="123447" cy="788670"/>
          </a:xfrm>
          <a:prstGeom prst="rect">
            <a:avLst/>
          </a:prstGeom>
          <a:solidFill>
            <a:srgbClr val="EB683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75" name="Google Shape;175;p29"/>
          <p:cNvSpPr txBox="1"/>
          <p:nvPr/>
        </p:nvSpPr>
        <p:spPr>
          <a:xfrm>
            <a:off x="377200" y="123444"/>
            <a:ext cx="836698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300">
                <a:solidFill>
                  <a:srgbClr val="0B0B0B"/>
                </a:solidFill>
                <a:latin typeface="Calibri"/>
                <a:ea typeface="Calibri"/>
                <a:cs typeface="Calibri"/>
                <a:sym typeface="Calibri"/>
              </a:rPr>
              <a:t>Five Approaches, Simple to Advanced</a:t>
            </a:r>
            <a:endParaRPr sz="1100"/>
          </a:p>
        </p:txBody>
      </p:sp>
      <p:sp>
        <p:nvSpPr>
          <p:cNvPr id="176" name="Google Shape;176;p29"/>
          <p:cNvSpPr/>
          <p:nvPr/>
        </p:nvSpPr>
        <p:spPr>
          <a:xfrm>
            <a:off x="377200" y="768096"/>
            <a:ext cx="2057455" cy="28575"/>
          </a:xfrm>
          <a:prstGeom prst="rect">
            <a:avLst/>
          </a:prstGeom>
          <a:solidFill>
            <a:srgbClr val="EB683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77" name="Google Shape;177;p29"/>
          <p:cNvSpPr txBox="1"/>
          <p:nvPr/>
        </p:nvSpPr>
        <p:spPr>
          <a:xfrm>
            <a:off x="480073" y="1028700"/>
            <a:ext cx="8161200" cy="1659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400">
                <a:solidFill>
                  <a:srgbClr val="0B0B0B"/>
                </a:solidFill>
                <a:latin typeface="Calibri"/>
                <a:ea typeface="Calibri"/>
                <a:cs typeface="Calibri"/>
                <a:sym typeface="Calibri"/>
              </a:rPr>
              <a:t>•  Model 0 </a:t>
            </a:r>
            <a:r>
              <a:rPr b="1" lang="en">
                <a:solidFill>
                  <a:srgbClr val="0B0B0B"/>
                </a:solidFill>
                <a:latin typeface="Calibri"/>
                <a:ea typeface="Calibri"/>
                <a:cs typeface="Calibri"/>
                <a:sym typeface="Calibri"/>
              </a:rPr>
              <a:t>-</a:t>
            </a:r>
            <a:r>
              <a:rPr b="1" lang="en" sz="1400">
                <a:solidFill>
                  <a:srgbClr val="0B0B0B"/>
                </a:solidFill>
                <a:latin typeface="Calibri"/>
                <a:ea typeface="Calibri"/>
                <a:cs typeface="Calibri"/>
                <a:sym typeface="Calibri"/>
              </a:rPr>
              <a:t> Naive Bayes + TF-IDF:  </a:t>
            </a:r>
            <a:r>
              <a:rPr lang="en" sz="1400">
                <a:solidFill>
                  <a:srgbClr val="52514E"/>
                </a:solidFill>
                <a:latin typeface="Calibri"/>
                <a:ea typeface="Calibri"/>
                <a:cs typeface="Calibri"/>
                <a:sym typeface="Calibri"/>
              </a:rPr>
              <a:t>a simple keyword-based baseline.</a:t>
            </a:r>
            <a:endParaRPr sz="1100"/>
          </a:p>
          <a:p>
            <a:pPr indent="0" lvl="0" marL="0" marR="0" rtl="0" algn="l">
              <a:spcBef>
                <a:spcPts val="1000"/>
              </a:spcBef>
              <a:spcAft>
                <a:spcPts val="0"/>
              </a:spcAft>
              <a:buNone/>
            </a:pPr>
            <a:r>
              <a:rPr b="1" lang="en" sz="1400">
                <a:solidFill>
                  <a:srgbClr val="0B0B0B"/>
                </a:solidFill>
                <a:latin typeface="Calibri"/>
                <a:ea typeface="Calibri"/>
                <a:cs typeface="Calibri"/>
                <a:sym typeface="Calibri"/>
              </a:rPr>
              <a:t>•  Model 1 </a:t>
            </a:r>
            <a:r>
              <a:rPr b="1" lang="en">
                <a:solidFill>
                  <a:srgbClr val="0B0B0B"/>
                </a:solidFill>
                <a:latin typeface="Calibri"/>
                <a:ea typeface="Calibri"/>
                <a:cs typeface="Calibri"/>
                <a:sym typeface="Calibri"/>
              </a:rPr>
              <a:t>-</a:t>
            </a:r>
            <a:r>
              <a:rPr b="1" lang="en" sz="1400">
                <a:solidFill>
                  <a:srgbClr val="0B0B0B"/>
                </a:solidFill>
                <a:latin typeface="Calibri"/>
                <a:ea typeface="Calibri"/>
                <a:cs typeface="Calibri"/>
                <a:sym typeface="Calibri"/>
              </a:rPr>
              <a:t> Custom Neural Network (word-level):  </a:t>
            </a:r>
            <a:r>
              <a:rPr lang="en" sz="1400">
                <a:solidFill>
                  <a:srgbClr val="52514E"/>
                </a:solidFill>
                <a:latin typeface="Calibri"/>
                <a:ea typeface="Calibri"/>
                <a:cs typeface="Calibri"/>
                <a:sym typeface="Calibri"/>
              </a:rPr>
              <a:t>learns word patterns from our own data.</a:t>
            </a:r>
            <a:endParaRPr sz="1100"/>
          </a:p>
          <a:p>
            <a:pPr indent="0" lvl="0" marL="0" marR="0" rtl="0" algn="l">
              <a:spcBef>
                <a:spcPts val="1000"/>
              </a:spcBef>
              <a:spcAft>
                <a:spcPts val="0"/>
              </a:spcAft>
              <a:buNone/>
            </a:pPr>
            <a:r>
              <a:rPr b="1" lang="en" sz="1400">
                <a:solidFill>
                  <a:srgbClr val="0B0B0B"/>
                </a:solidFill>
                <a:latin typeface="Calibri"/>
                <a:ea typeface="Calibri"/>
                <a:cs typeface="Calibri"/>
                <a:sym typeface="Calibri"/>
              </a:rPr>
              <a:t>•  Model 2 </a:t>
            </a:r>
            <a:r>
              <a:rPr b="1" lang="en">
                <a:solidFill>
                  <a:srgbClr val="0B0B0B"/>
                </a:solidFill>
                <a:latin typeface="Calibri"/>
                <a:ea typeface="Calibri"/>
                <a:cs typeface="Calibri"/>
                <a:sym typeface="Calibri"/>
              </a:rPr>
              <a:t>- </a:t>
            </a:r>
            <a:r>
              <a:rPr b="1" lang="en" sz="1400">
                <a:solidFill>
                  <a:srgbClr val="0B0B0B"/>
                </a:solidFill>
                <a:latin typeface="Calibri"/>
                <a:ea typeface="Calibri"/>
                <a:cs typeface="Calibri"/>
                <a:sym typeface="Calibri"/>
              </a:rPr>
              <a:t>Pretrained Sentence Encoder (Google USE):  </a:t>
            </a:r>
            <a:r>
              <a:rPr lang="en" sz="1400">
                <a:solidFill>
                  <a:srgbClr val="52514E"/>
                </a:solidFill>
                <a:latin typeface="Calibri"/>
                <a:ea typeface="Calibri"/>
                <a:cs typeface="Calibri"/>
                <a:sym typeface="Calibri"/>
              </a:rPr>
              <a:t>borrows a ready-made, general-purpose model.</a:t>
            </a:r>
            <a:endParaRPr sz="1100"/>
          </a:p>
          <a:p>
            <a:pPr indent="0" lvl="0" marL="0" marR="0" rtl="0" algn="l">
              <a:spcBef>
                <a:spcPts val="1000"/>
              </a:spcBef>
              <a:spcAft>
                <a:spcPts val="0"/>
              </a:spcAft>
              <a:buNone/>
            </a:pPr>
            <a:r>
              <a:rPr b="1" lang="en" sz="1400">
                <a:solidFill>
                  <a:srgbClr val="0B0B0B"/>
                </a:solidFill>
                <a:latin typeface="Calibri"/>
                <a:ea typeface="Calibri"/>
                <a:cs typeface="Calibri"/>
                <a:sym typeface="Calibri"/>
              </a:rPr>
              <a:t>•  Model 3 </a:t>
            </a:r>
            <a:r>
              <a:rPr b="1" lang="en">
                <a:solidFill>
                  <a:srgbClr val="0B0B0B"/>
                </a:solidFill>
                <a:latin typeface="Calibri"/>
                <a:ea typeface="Calibri"/>
                <a:cs typeface="Calibri"/>
                <a:sym typeface="Calibri"/>
              </a:rPr>
              <a:t>- </a:t>
            </a:r>
            <a:r>
              <a:rPr b="1" lang="en" sz="1400">
                <a:solidFill>
                  <a:srgbClr val="0B0B0B"/>
                </a:solidFill>
                <a:latin typeface="Calibri"/>
                <a:ea typeface="Calibri"/>
                <a:cs typeface="Calibri"/>
                <a:sym typeface="Calibri"/>
              </a:rPr>
              <a:t> Custom Neural Network (character-level):  </a:t>
            </a:r>
            <a:r>
              <a:rPr lang="en" sz="1400">
                <a:solidFill>
                  <a:srgbClr val="52514E"/>
                </a:solidFill>
                <a:latin typeface="Calibri"/>
                <a:ea typeface="Calibri"/>
                <a:cs typeface="Calibri"/>
                <a:sym typeface="Calibri"/>
              </a:rPr>
              <a:t>learns from raw letter and word-shape patterns.</a:t>
            </a:r>
            <a:endParaRPr sz="1100"/>
          </a:p>
          <a:p>
            <a:pPr indent="0" lvl="0" marL="0" marR="0" rtl="0" algn="l">
              <a:spcBef>
                <a:spcPts val="1000"/>
              </a:spcBef>
              <a:spcAft>
                <a:spcPts val="0"/>
              </a:spcAft>
              <a:buNone/>
            </a:pPr>
            <a:r>
              <a:rPr b="1" lang="en" sz="1400">
                <a:solidFill>
                  <a:srgbClr val="0B0B0B"/>
                </a:solidFill>
                <a:latin typeface="Calibri"/>
                <a:ea typeface="Calibri"/>
                <a:cs typeface="Calibri"/>
                <a:sym typeface="Calibri"/>
              </a:rPr>
              <a:t>•  Model 4 </a:t>
            </a:r>
            <a:r>
              <a:rPr b="1" lang="en">
                <a:solidFill>
                  <a:srgbClr val="0B0B0B"/>
                </a:solidFill>
                <a:latin typeface="Calibri"/>
                <a:ea typeface="Calibri"/>
                <a:cs typeface="Calibri"/>
                <a:sym typeface="Calibri"/>
              </a:rPr>
              <a:t>- </a:t>
            </a:r>
            <a:r>
              <a:rPr b="1" lang="en" sz="1400">
                <a:solidFill>
                  <a:srgbClr val="0B0B0B"/>
                </a:solidFill>
                <a:latin typeface="Calibri"/>
                <a:ea typeface="Calibri"/>
                <a:cs typeface="Calibri"/>
                <a:sym typeface="Calibri"/>
              </a:rPr>
              <a:t> Fine-Tuned Language Model (DistilBERT):  </a:t>
            </a:r>
            <a:r>
              <a:rPr lang="en" sz="1400">
                <a:solidFill>
                  <a:srgbClr val="52514E"/>
                </a:solidFill>
                <a:latin typeface="Calibri"/>
                <a:ea typeface="Calibri"/>
                <a:cs typeface="Calibri"/>
                <a:sym typeface="Calibri"/>
              </a:rPr>
              <a:t>adapts a pretrained language model to our exact task.</a:t>
            </a:r>
            <a:endParaRPr sz="1100"/>
          </a:p>
        </p:txBody>
      </p:sp>
      <p:sp>
        <p:nvSpPr>
          <p:cNvPr id="178" name="Google Shape;178;p29"/>
          <p:cNvSpPr txBox="1"/>
          <p:nvPr/>
        </p:nvSpPr>
        <p:spPr>
          <a:xfrm>
            <a:off x="480073" y="4354830"/>
            <a:ext cx="81612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1" lang="en" sz="1100">
                <a:solidFill>
                  <a:srgbClr val="52514E"/>
                </a:solidFill>
                <a:latin typeface="Calibri"/>
                <a:ea typeface="Calibri"/>
                <a:cs typeface="Calibri"/>
                <a:sym typeface="Calibri"/>
              </a:rPr>
              <a:t>Every approach got the same treatment: a quick, mostly-default first pass to get a baseline, then a properly tuned version </a:t>
            </a:r>
            <a:r>
              <a:rPr i="1" lang="en" sz="1100">
                <a:solidFill>
                  <a:srgbClr val="52514E"/>
                </a:solidFill>
                <a:latin typeface="Calibri"/>
                <a:ea typeface="Calibri"/>
                <a:cs typeface="Calibri"/>
                <a:sym typeface="Calibri"/>
              </a:rPr>
              <a:t> - </a:t>
            </a:r>
            <a:r>
              <a:rPr b="0" i="1" lang="en" sz="1100">
                <a:solidFill>
                  <a:srgbClr val="52514E"/>
                </a:solidFill>
                <a:latin typeface="Calibri"/>
                <a:ea typeface="Calibri"/>
                <a:cs typeface="Calibri"/>
                <a:sym typeface="Calibri"/>
              </a:rPr>
              <a:t>each one scored on both the validation set and the untouched test set, so the comparison on the results slide is apples to apples.</a:t>
            </a:r>
            <a:endParaRPr sz="1100"/>
          </a:p>
        </p:txBody>
      </p:sp>
      <p:sp>
        <p:nvSpPr>
          <p:cNvPr id="179" name="Google Shape;179;p29"/>
          <p:cNvSpPr txBox="1"/>
          <p:nvPr/>
        </p:nvSpPr>
        <p:spPr>
          <a:xfrm>
            <a:off x="8161238" y="4869180"/>
            <a:ext cx="822982" cy="20574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lang="en" sz="800">
                <a:solidFill>
                  <a:srgbClr val="52514E"/>
                </a:solidFill>
                <a:latin typeface="Calibri"/>
                <a:ea typeface="Calibri"/>
                <a:cs typeface="Calibri"/>
                <a:sym typeface="Calibri"/>
              </a:rPr>
              <a:t>4</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0"/>
          <p:cNvSpPr/>
          <p:nvPr/>
        </p:nvSpPr>
        <p:spPr>
          <a:xfrm>
            <a:off x="0" y="0"/>
            <a:ext cx="9144015" cy="51435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86" name="Google Shape;186;p30"/>
          <p:cNvSpPr/>
          <p:nvPr/>
        </p:nvSpPr>
        <p:spPr>
          <a:xfrm>
            <a:off x="0" y="0"/>
            <a:ext cx="123447" cy="788670"/>
          </a:xfrm>
          <a:prstGeom prst="rect">
            <a:avLst/>
          </a:prstGeom>
          <a:solidFill>
            <a:srgbClr val="2A78D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87" name="Google Shape;187;p30"/>
          <p:cNvSpPr txBox="1"/>
          <p:nvPr/>
        </p:nvSpPr>
        <p:spPr>
          <a:xfrm>
            <a:off x="377200" y="123444"/>
            <a:ext cx="836698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300">
                <a:solidFill>
                  <a:srgbClr val="0B0B0B"/>
                </a:solidFill>
                <a:latin typeface="Calibri"/>
                <a:ea typeface="Calibri"/>
                <a:cs typeface="Calibri"/>
                <a:sym typeface="Calibri"/>
              </a:rPr>
              <a:t>Results: Validation Accuracy</a:t>
            </a:r>
            <a:endParaRPr sz="1100"/>
          </a:p>
        </p:txBody>
      </p:sp>
      <p:sp>
        <p:nvSpPr>
          <p:cNvPr id="188" name="Google Shape;188;p30"/>
          <p:cNvSpPr/>
          <p:nvPr/>
        </p:nvSpPr>
        <p:spPr>
          <a:xfrm>
            <a:off x="377200" y="768096"/>
            <a:ext cx="2057455" cy="28575"/>
          </a:xfrm>
          <a:prstGeom prst="rect">
            <a:avLst/>
          </a:prstGeom>
          <a:solidFill>
            <a:srgbClr val="2A78D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pic>
        <p:nvPicPr>
          <p:cNvPr id="189" name="Google Shape;189;p30"/>
          <p:cNvPicPr preferRelativeResize="0"/>
          <p:nvPr/>
        </p:nvPicPr>
        <p:blipFill rotWithShape="1">
          <a:blip r:embed="rId3">
            <a:alphaModFix/>
          </a:blip>
          <a:srcRect b="0" l="0" r="0" t="0"/>
          <a:stretch/>
        </p:blipFill>
        <p:spPr>
          <a:xfrm>
            <a:off x="411491" y="1028700"/>
            <a:ext cx="8298401" cy="3429000"/>
          </a:xfrm>
          <a:prstGeom prst="rect">
            <a:avLst/>
          </a:prstGeom>
          <a:noFill/>
          <a:ln>
            <a:noFill/>
          </a:ln>
        </p:spPr>
      </p:pic>
      <p:sp>
        <p:nvSpPr>
          <p:cNvPr id="190" name="Google Shape;190;p30"/>
          <p:cNvSpPr txBox="1"/>
          <p:nvPr/>
        </p:nvSpPr>
        <p:spPr>
          <a:xfrm>
            <a:off x="480073" y="4526280"/>
            <a:ext cx="81612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1" lang="en" sz="1100">
                <a:solidFill>
                  <a:srgbClr val="52514E"/>
                </a:solidFill>
                <a:latin typeface="Calibri"/>
                <a:ea typeface="Calibri"/>
                <a:cs typeface="Calibri"/>
                <a:sym typeface="Calibri"/>
              </a:rPr>
              <a:t>DistilBERT, fully fine-tuned: 87.5% validation, 86.5% test </a:t>
            </a:r>
            <a:r>
              <a:rPr i="1" lang="en" sz="1100">
                <a:solidFill>
                  <a:srgbClr val="52514E"/>
                </a:solidFill>
                <a:latin typeface="Calibri"/>
                <a:ea typeface="Calibri"/>
                <a:cs typeface="Calibri"/>
                <a:sym typeface="Calibri"/>
              </a:rPr>
              <a:t>- </a:t>
            </a:r>
            <a:r>
              <a:rPr b="0" i="1" lang="en" sz="1100">
                <a:solidFill>
                  <a:srgbClr val="52514E"/>
                </a:solidFill>
                <a:latin typeface="Calibri"/>
                <a:ea typeface="Calibri"/>
                <a:cs typeface="Calibri"/>
                <a:sym typeface="Calibri"/>
              </a:rPr>
              <a:t> our best result, every model improved after tuning, and the winner's test score barely moved from its validation score.</a:t>
            </a:r>
            <a:endParaRPr sz="1100"/>
          </a:p>
        </p:txBody>
      </p:sp>
      <p:sp>
        <p:nvSpPr>
          <p:cNvPr id="191" name="Google Shape;191;p30"/>
          <p:cNvSpPr txBox="1"/>
          <p:nvPr/>
        </p:nvSpPr>
        <p:spPr>
          <a:xfrm>
            <a:off x="8161238" y="4869180"/>
            <a:ext cx="822982" cy="20574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lang="en" sz="800">
                <a:solidFill>
                  <a:srgbClr val="52514E"/>
                </a:solidFill>
                <a:latin typeface="Calibri"/>
                <a:ea typeface="Calibri"/>
                <a:cs typeface="Calibri"/>
                <a:sym typeface="Calibri"/>
              </a:rPr>
              <a:t>5</a:t>
            </a:r>
            <a:endParaRPr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1"/>
          <p:cNvSpPr/>
          <p:nvPr/>
        </p:nvSpPr>
        <p:spPr>
          <a:xfrm>
            <a:off x="0" y="0"/>
            <a:ext cx="9144015" cy="51435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98" name="Google Shape;198;p31"/>
          <p:cNvSpPr/>
          <p:nvPr/>
        </p:nvSpPr>
        <p:spPr>
          <a:xfrm>
            <a:off x="0" y="0"/>
            <a:ext cx="123447" cy="788670"/>
          </a:xfrm>
          <a:prstGeom prst="rect">
            <a:avLst/>
          </a:prstGeom>
          <a:solidFill>
            <a:srgbClr val="EB683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99" name="Google Shape;199;p31"/>
          <p:cNvSpPr txBox="1"/>
          <p:nvPr/>
        </p:nvSpPr>
        <p:spPr>
          <a:xfrm>
            <a:off x="377200" y="123444"/>
            <a:ext cx="836698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300">
                <a:solidFill>
                  <a:srgbClr val="0B0B0B"/>
                </a:solidFill>
                <a:latin typeface="Calibri"/>
                <a:ea typeface="Calibri"/>
                <a:cs typeface="Calibri"/>
                <a:sym typeface="Calibri"/>
              </a:rPr>
              <a:t>Key Takeaways</a:t>
            </a:r>
            <a:endParaRPr sz="1100"/>
          </a:p>
        </p:txBody>
      </p:sp>
      <p:sp>
        <p:nvSpPr>
          <p:cNvPr id="200" name="Google Shape;200;p31"/>
          <p:cNvSpPr/>
          <p:nvPr/>
        </p:nvSpPr>
        <p:spPr>
          <a:xfrm>
            <a:off x="377200" y="768096"/>
            <a:ext cx="2057455" cy="28575"/>
          </a:xfrm>
          <a:prstGeom prst="rect">
            <a:avLst/>
          </a:prstGeom>
          <a:solidFill>
            <a:srgbClr val="EB683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01" name="Google Shape;201;p31"/>
          <p:cNvSpPr txBox="1"/>
          <p:nvPr/>
        </p:nvSpPr>
        <p:spPr>
          <a:xfrm>
            <a:off x="480073" y="1028700"/>
            <a:ext cx="8161200" cy="2521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rgbClr val="0B0B0B"/>
                </a:solidFill>
                <a:latin typeface="Calibri"/>
                <a:ea typeface="Calibri"/>
                <a:cs typeface="Calibri"/>
                <a:sym typeface="Calibri"/>
              </a:rPr>
              <a:t>•  Tuning improved every single model we tried </a:t>
            </a:r>
            <a:r>
              <a:rPr lang="en">
                <a:solidFill>
                  <a:srgbClr val="0B0B0B"/>
                </a:solidFill>
                <a:latin typeface="Calibri"/>
                <a:ea typeface="Calibri"/>
                <a:cs typeface="Calibri"/>
                <a:sym typeface="Calibri"/>
              </a:rPr>
              <a:t>- </a:t>
            </a:r>
            <a:r>
              <a:rPr lang="en" sz="1400">
                <a:solidFill>
                  <a:srgbClr val="0B0B0B"/>
                </a:solidFill>
                <a:latin typeface="Calibri"/>
                <a:ea typeface="Calibri"/>
                <a:cs typeface="Calibri"/>
                <a:sym typeface="Calibri"/>
              </a:rPr>
              <a:t> the extra effort consistently paid off, no exceptions.</a:t>
            </a:r>
            <a:endParaRPr sz="1100"/>
          </a:p>
          <a:p>
            <a:pPr indent="0" lvl="0" marL="0" marR="0" rtl="0" algn="l">
              <a:spcBef>
                <a:spcPts val="1000"/>
              </a:spcBef>
              <a:spcAft>
                <a:spcPts val="0"/>
              </a:spcAft>
              <a:buNone/>
            </a:pPr>
            <a:r>
              <a:rPr lang="en" sz="1400">
                <a:solidFill>
                  <a:srgbClr val="0B0B0B"/>
                </a:solidFill>
                <a:latin typeface="Calibri"/>
                <a:ea typeface="Calibri"/>
                <a:cs typeface="Calibri"/>
                <a:sym typeface="Calibri"/>
              </a:rPr>
              <a:t>•  A ready-made, general-purpose sentence embedding (Google USE) actually underperformed our own custom-trained model. Off-the-shelf isn't automatically better for a specialized task.</a:t>
            </a:r>
            <a:endParaRPr sz="1100"/>
          </a:p>
          <a:p>
            <a:pPr indent="0" lvl="0" marL="0" marR="0" rtl="0" algn="l">
              <a:spcBef>
                <a:spcPts val="1000"/>
              </a:spcBef>
              <a:spcAft>
                <a:spcPts val="0"/>
              </a:spcAft>
              <a:buNone/>
            </a:pPr>
            <a:r>
              <a:rPr lang="en" sz="1400">
                <a:solidFill>
                  <a:srgbClr val="0B0B0B"/>
                </a:solidFill>
                <a:latin typeface="Calibri"/>
                <a:ea typeface="Calibri"/>
                <a:cs typeface="Calibri"/>
                <a:sym typeface="Calibri"/>
              </a:rPr>
              <a:t>•  The character-level model started out weakest of all (58.9%) but became one of our strongest after tuning (81.6%) </a:t>
            </a:r>
            <a:r>
              <a:rPr lang="en">
                <a:solidFill>
                  <a:srgbClr val="0B0B0B"/>
                </a:solidFill>
                <a:latin typeface="Calibri"/>
                <a:ea typeface="Calibri"/>
                <a:cs typeface="Calibri"/>
                <a:sym typeface="Calibri"/>
              </a:rPr>
              <a:t>- </a:t>
            </a:r>
            <a:r>
              <a:rPr lang="en" sz="1400">
                <a:solidFill>
                  <a:srgbClr val="0B0B0B"/>
                </a:solidFill>
                <a:latin typeface="Calibri"/>
                <a:ea typeface="Calibri"/>
                <a:cs typeface="Calibri"/>
                <a:sym typeface="Calibri"/>
              </a:rPr>
              <a:t> architecture tuning mattered as much as the underlying approach.</a:t>
            </a:r>
            <a:endParaRPr sz="1100"/>
          </a:p>
          <a:p>
            <a:pPr indent="0" lvl="0" marL="0" marR="0" rtl="0" algn="l">
              <a:spcBef>
                <a:spcPts val="1000"/>
              </a:spcBef>
              <a:spcAft>
                <a:spcPts val="0"/>
              </a:spcAft>
              <a:buNone/>
            </a:pPr>
            <a:r>
              <a:rPr lang="en" sz="1400">
                <a:solidFill>
                  <a:srgbClr val="0B0B0B"/>
                </a:solidFill>
                <a:latin typeface="Calibri"/>
                <a:ea typeface="Calibri"/>
                <a:cs typeface="Calibri"/>
                <a:sym typeface="Calibri"/>
              </a:rPr>
              <a:t>•  Fully fine-tuning an actual pretrained language model gave the best result by a clear margin (87.5%), well ahead of the next-best approach.</a:t>
            </a:r>
            <a:endParaRPr sz="1100"/>
          </a:p>
          <a:p>
            <a:pPr indent="0" lvl="0" marL="0" marR="0" rtl="0" algn="l">
              <a:spcBef>
                <a:spcPts val="1000"/>
              </a:spcBef>
              <a:spcAft>
                <a:spcPts val="0"/>
              </a:spcAft>
              <a:buNone/>
            </a:pPr>
            <a:r>
              <a:rPr lang="en" sz="1400">
                <a:solidFill>
                  <a:srgbClr val="0B0B0B"/>
                </a:solidFill>
                <a:latin typeface="Calibri"/>
                <a:ea typeface="Calibri"/>
                <a:cs typeface="Calibri"/>
                <a:sym typeface="Calibri"/>
              </a:rPr>
              <a:t>•  The winning model's test score (86.5%) landed almost exactly where its validation score did (87.5%) </a:t>
            </a:r>
            <a:r>
              <a:rPr lang="en">
                <a:solidFill>
                  <a:srgbClr val="0B0B0B"/>
                </a:solidFill>
                <a:latin typeface="Calibri"/>
                <a:ea typeface="Calibri"/>
                <a:cs typeface="Calibri"/>
                <a:sym typeface="Calibri"/>
              </a:rPr>
              <a:t>- </a:t>
            </a:r>
            <a:r>
              <a:rPr lang="en" sz="1400">
                <a:solidFill>
                  <a:srgbClr val="0B0B0B"/>
                </a:solidFill>
                <a:latin typeface="Calibri"/>
                <a:ea typeface="Calibri"/>
                <a:cs typeface="Calibri"/>
                <a:sym typeface="Calibri"/>
              </a:rPr>
              <a:t> a good sign it'll hold up on abstracts it hasn't seen before.</a:t>
            </a:r>
            <a:endParaRPr sz="1100"/>
          </a:p>
        </p:txBody>
      </p:sp>
      <p:sp>
        <p:nvSpPr>
          <p:cNvPr id="202" name="Google Shape;202;p31"/>
          <p:cNvSpPr txBox="1"/>
          <p:nvPr/>
        </p:nvSpPr>
        <p:spPr>
          <a:xfrm>
            <a:off x="8161238" y="4869180"/>
            <a:ext cx="822982" cy="20574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lang="en" sz="800">
                <a:solidFill>
                  <a:srgbClr val="52514E"/>
                </a:solidFill>
                <a:latin typeface="Calibri"/>
                <a:ea typeface="Calibri"/>
                <a:cs typeface="Calibri"/>
                <a:sym typeface="Calibri"/>
              </a:rPr>
              <a:t>6</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2"/>
          <p:cNvSpPr/>
          <p:nvPr/>
        </p:nvSpPr>
        <p:spPr>
          <a:xfrm>
            <a:off x="0" y="0"/>
            <a:ext cx="9144015" cy="51435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09" name="Google Shape;209;p32"/>
          <p:cNvSpPr/>
          <p:nvPr/>
        </p:nvSpPr>
        <p:spPr>
          <a:xfrm>
            <a:off x="0" y="0"/>
            <a:ext cx="123447" cy="788670"/>
          </a:xfrm>
          <a:prstGeom prst="rect">
            <a:avLst/>
          </a:prstGeom>
          <a:solidFill>
            <a:srgbClr val="2A78D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10" name="Google Shape;210;p32"/>
          <p:cNvSpPr txBox="1"/>
          <p:nvPr/>
        </p:nvSpPr>
        <p:spPr>
          <a:xfrm>
            <a:off x="377200" y="123444"/>
            <a:ext cx="836698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300">
                <a:solidFill>
                  <a:srgbClr val="0B0B0B"/>
                </a:solidFill>
                <a:latin typeface="Calibri"/>
                <a:ea typeface="Calibri"/>
                <a:cs typeface="Calibri"/>
                <a:sym typeface="Calibri"/>
              </a:rPr>
              <a:t>From Dense Text to Structured Text</a:t>
            </a:r>
            <a:endParaRPr sz="1100"/>
          </a:p>
        </p:txBody>
      </p:sp>
      <p:sp>
        <p:nvSpPr>
          <p:cNvPr id="211" name="Google Shape;211;p32"/>
          <p:cNvSpPr/>
          <p:nvPr/>
        </p:nvSpPr>
        <p:spPr>
          <a:xfrm>
            <a:off x="377200" y="768096"/>
            <a:ext cx="2057455" cy="28575"/>
          </a:xfrm>
          <a:prstGeom prst="rect">
            <a:avLst/>
          </a:prstGeom>
          <a:solidFill>
            <a:srgbClr val="2A78D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12" name="Google Shape;212;p32"/>
          <p:cNvSpPr txBox="1"/>
          <p:nvPr/>
        </p:nvSpPr>
        <p:spPr>
          <a:xfrm>
            <a:off x="480073" y="1028700"/>
            <a:ext cx="3977746"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200">
                <a:solidFill>
                  <a:srgbClr val="52514E"/>
                </a:solidFill>
                <a:latin typeface="Calibri"/>
                <a:ea typeface="Calibri"/>
                <a:cs typeface="Calibri"/>
                <a:sym typeface="Calibri"/>
              </a:rPr>
              <a:t>BEFORE</a:t>
            </a:r>
            <a:endParaRPr sz="1100"/>
          </a:p>
        </p:txBody>
      </p:sp>
      <p:sp>
        <p:nvSpPr>
          <p:cNvPr id="213" name="Google Shape;213;p32"/>
          <p:cNvSpPr/>
          <p:nvPr/>
        </p:nvSpPr>
        <p:spPr>
          <a:xfrm>
            <a:off x="480073" y="1337310"/>
            <a:ext cx="3977746" cy="3188970"/>
          </a:xfrm>
          <a:prstGeom prst="rect">
            <a:avLst/>
          </a:prstGeom>
          <a:solidFill>
            <a:srgbClr val="FCFCFB"/>
          </a:solidFill>
          <a:ln cap="flat" cmpd="sng" w="9525">
            <a:solidFill>
              <a:srgbClr val="52514E"/>
            </a:solidFill>
            <a:prstDash val="solid"/>
            <a:round/>
            <a:headEnd len="sm" w="sm" type="none"/>
            <a:tailEnd len="sm" w="sm" type="none"/>
          </a:ln>
        </p:spPr>
        <p:txBody>
          <a:bodyPr anchorCtr="0" anchor="ctr" bIns="34275" lIns="137150" spcFirstLastPara="1" rIns="137150" wrap="square" tIns="137150">
            <a:noAutofit/>
          </a:bodyPr>
          <a:lstStyle/>
          <a:p>
            <a:pPr indent="0" lvl="0" marL="0" marR="0" rtl="0" algn="l">
              <a:spcBef>
                <a:spcPts val="0"/>
              </a:spcBef>
              <a:spcAft>
                <a:spcPts val="0"/>
              </a:spcAft>
              <a:buNone/>
            </a:pPr>
            <a:r>
              <a:rPr lang="en" sz="1000">
                <a:solidFill>
                  <a:srgbClr val="0B0B0B"/>
                </a:solidFill>
                <a:latin typeface="Calibri"/>
                <a:ea typeface="Calibri"/>
                <a:cs typeface="Calibri"/>
                <a:sym typeface="Calibri"/>
              </a:rPr>
              <a:t>Investigate the efficacy of several weeks of daily low-dose oral prednisolone in improving pain, mobility, and systemic low-grade inflammation in the short term, and whether the effect is sustained in older adults with moderate to severe knee osteoarthritis (OA). A total of a specified number of patients with primary knee OA were randomized into two groups; one group received a daily dose of prednisolone while the other received a placebo. Outcome measures included pain reduction, improvement in function scores, and systemic inflammation markers. Pain was assessed using the visual analog pain scale. Secondary outcome measures included the Western Ontario and McMaster Universities Osteoarthritis Index scores, patient global assessment of knee OA severity, and walk distance. Serum levels of various biomarkers were measured. There was a clinically relevant reduction in the intervention group compared to the placebo group for knee pain, physical function, and other measures at different time points.</a:t>
            </a:r>
            <a:endParaRPr sz="1100"/>
          </a:p>
        </p:txBody>
      </p:sp>
      <p:sp>
        <p:nvSpPr>
          <p:cNvPr id="214" name="Google Shape;214;p32"/>
          <p:cNvSpPr txBox="1"/>
          <p:nvPr/>
        </p:nvSpPr>
        <p:spPr>
          <a:xfrm>
            <a:off x="4663564" y="1028700"/>
            <a:ext cx="3977746"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200">
                <a:solidFill>
                  <a:srgbClr val="52514E"/>
                </a:solidFill>
                <a:latin typeface="Calibri"/>
                <a:ea typeface="Calibri"/>
                <a:cs typeface="Calibri"/>
                <a:sym typeface="Calibri"/>
              </a:rPr>
              <a:t>AFTER — auto-segmented by our model</a:t>
            </a:r>
            <a:endParaRPr sz="1100"/>
          </a:p>
        </p:txBody>
      </p:sp>
      <p:sp>
        <p:nvSpPr>
          <p:cNvPr id="215" name="Google Shape;215;p32"/>
          <p:cNvSpPr/>
          <p:nvPr/>
        </p:nvSpPr>
        <p:spPr>
          <a:xfrm>
            <a:off x="4663564" y="1337310"/>
            <a:ext cx="3977746" cy="3188970"/>
          </a:xfrm>
          <a:prstGeom prst="rect">
            <a:avLst/>
          </a:prstGeom>
          <a:solidFill>
            <a:srgbClr val="FCFCFB"/>
          </a:solidFill>
          <a:ln cap="flat" cmpd="sng" w="15875">
            <a:solidFill>
              <a:srgbClr val="2A78D6"/>
            </a:solidFill>
            <a:prstDash val="solid"/>
            <a:round/>
            <a:headEnd len="sm" w="sm" type="none"/>
            <a:tailEnd len="sm" w="sm" type="none"/>
          </a:ln>
        </p:spPr>
        <p:txBody>
          <a:bodyPr anchorCtr="0" anchor="ctr" bIns="34275" lIns="137150" spcFirstLastPara="1" rIns="137150" wrap="square" tIns="137150">
            <a:noAutofit/>
          </a:bodyPr>
          <a:lstStyle/>
          <a:p>
            <a:pPr indent="0" lvl="0" marL="0" marR="0" rtl="0" algn="l">
              <a:spcBef>
                <a:spcPts val="0"/>
              </a:spcBef>
              <a:spcAft>
                <a:spcPts val="0"/>
              </a:spcAft>
              <a:buNone/>
            </a:pPr>
            <a:r>
              <a:rPr b="1" lang="en" sz="1000">
                <a:solidFill>
                  <a:srgbClr val="2A78D6"/>
                </a:solidFill>
                <a:latin typeface="Calibri"/>
                <a:ea typeface="Calibri"/>
                <a:cs typeface="Calibri"/>
                <a:sym typeface="Calibri"/>
              </a:rPr>
              <a:t>Objective: </a:t>
            </a:r>
            <a:r>
              <a:rPr lang="en" sz="1000">
                <a:solidFill>
                  <a:srgbClr val="0B0B0B"/>
                </a:solidFill>
                <a:latin typeface="Calibri"/>
                <a:ea typeface="Calibri"/>
                <a:cs typeface="Calibri"/>
                <a:sym typeface="Calibri"/>
              </a:rPr>
              <a:t>Investigate the efficacy of several weeks of daily low-dose oral prednisolone in improving pain, mobility, and systemic low-grade inflammation in the short term, and whether the effect is sustained in older adults with moderate to severe knee osteoarthritis (OA).</a:t>
            </a:r>
            <a:endParaRPr sz="1100"/>
          </a:p>
          <a:p>
            <a:pPr indent="0" lvl="0" marL="0" marR="0" rtl="0" algn="l">
              <a:spcBef>
                <a:spcPts val="800"/>
              </a:spcBef>
              <a:spcAft>
                <a:spcPts val="0"/>
              </a:spcAft>
              <a:buNone/>
            </a:pPr>
            <a:r>
              <a:rPr b="1" lang="en" sz="1000">
                <a:solidFill>
                  <a:srgbClr val="2A78D6"/>
                </a:solidFill>
                <a:latin typeface="Calibri"/>
                <a:ea typeface="Calibri"/>
                <a:cs typeface="Calibri"/>
                <a:sym typeface="Calibri"/>
              </a:rPr>
              <a:t>Methods: </a:t>
            </a:r>
            <a:r>
              <a:rPr lang="en" sz="1000">
                <a:solidFill>
                  <a:srgbClr val="0B0B0B"/>
                </a:solidFill>
                <a:latin typeface="Calibri"/>
                <a:ea typeface="Calibri"/>
                <a:cs typeface="Calibri"/>
                <a:sym typeface="Calibri"/>
              </a:rPr>
              <a:t>A total of a specified number of patients with primary knee OA were randomized into two groups; one group received a daily dose of prednisolone while the other received a placebo. Outcome measures included pain reduction, improvement in function scores, and systemic inflammation markers. Pain was assessed using the visual analog pain scale. Secondary outcome measures included the Western Ontario and McMaster Universities Osteoarthritis Index scores, patient global assessment of knee OA severity, and walk distance. Serum levels of various biomarkers were measured.</a:t>
            </a:r>
            <a:endParaRPr sz="1100"/>
          </a:p>
          <a:p>
            <a:pPr indent="0" lvl="0" marL="0" marR="0" rtl="0" algn="l">
              <a:spcBef>
                <a:spcPts val="800"/>
              </a:spcBef>
              <a:spcAft>
                <a:spcPts val="0"/>
              </a:spcAft>
              <a:buNone/>
            </a:pPr>
            <a:r>
              <a:rPr b="1" lang="en" sz="1000">
                <a:solidFill>
                  <a:srgbClr val="2A78D6"/>
                </a:solidFill>
                <a:latin typeface="Calibri"/>
                <a:ea typeface="Calibri"/>
                <a:cs typeface="Calibri"/>
                <a:sym typeface="Calibri"/>
              </a:rPr>
              <a:t>Results: </a:t>
            </a:r>
            <a:r>
              <a:rPr lang="en" sz="1000">
                <a:solidFill>
                  <a:srgbClr val="0B0B0B"/>
                </a:solidFill>
                <a:latin typeface="Calibri"/>
                <a:ea typeface="Calibri"/>
                <a:cs typeface="Calibri"/>
                <a:sym typeface="Calibri"/>
              </a:rPr>
              <a:t>There was a clinically relevant reduction in the intervention group compared to the placebo group for knee pain, physical function, and other measures at different time points.</a:t>
            </a:r>
            <a:endParaRPr sz="1100"/>
          </a:p>
        </p:txBody>
      </p:sp>
      <p:sp>
        <p:nvSpPr>
          <p:cNvPr id="216" name="Google Shape;216;p32"/>
          <p:cNvSpPr txBox="1"/>
          <p:nvPr/>
        </p:nvSpPr>
        <p:spPr>
          <a:xfrm>
            <a:off x="480073" y="4629150"/>
            <a:ext cx="8161238"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1" lang="en" sz="1100">
                <a:solidFill>
                  <a:srgbClr val="52514E"/>
                </a:solidFill>
                <a:latin typeface="Calibri"/>
                <a:ea typeface="Calibri"/>
                <a:cs typeface="Calibri"/>
                <a:sym typeface="Calibri"/>
              </a:rPr>
              <a:t>This is a real abstract run through our actual trained model — nothing staged.</a:t>
            </a:r>
            <a:endParaRPr sz="1100"/>
          </a:p>
        </p:txBody>
      </p:sp>
      <p:sp>
        <p:nvSpPr>
          <p:cNvPr id="217" name="Google Shape;217;p32"/>
          <p:cNvSpPr txBox="1"/>
          <p:nvPr/>
        </p:nvSpPr>
        <p:spPr>
          <a:xfrm>
            <a:off x="8161238" y="4869180"/>
            <a:ext cx="822982" cy="20574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lang="en" sz="800">
                <a:solidFill>
                  <a:srgbClr val="52514E"/>
                </a:solidFill>
                <a:latin typeface="Calibri"/>
                <a:ea typeface="Calibri"/>
                <a:cs typeface="Calibri"/>
                <a:sym typeface="Calibri"/>
              </a:rPr>
              <a:t>7</a:t>
            </a:r>
            <a:endParaRPr sz="1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3"/>
          <p:cNvSpPr/>
          <p:nvPr/>
        </p:nvSpPr>
        <p:spPr>
          <a:xfrm>
            <a:off x="0" y="0"/>
            <a:ext cx="9144015" cy="51435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24" name="Google Shape;224;p33"/>
          <p:cNvSpPr/>
          <p:nvPr/>
        </p:nvSpPr>
        <p:spPr>
          <a:xfrm>
            <a:off x="0" y="0"/>
            <a:ext cx="123447" cy="788670"/>
          </a:xfrm>
          <a:prstGeom prst="rect">
            <a:avLst/>
          </a:prstGeom>
          <a:solidFill>
            <a:srgbClr val="2A78D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25" name="Google Shape;225;p33"/>
          <p:cNvSpPr txBox="1"/>
          <p:nvPr/>
        </p:nvSpPr>
        <p:spPr>
          <a:xfrm>
            <a:off x="377200" y="123444"/>
            <a:ext cx="836698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300">
                <a:solidFill>
                  <a:srgbClr val="0B0B0B"/>
                </a:solidFill>
                <a:latin typeface="Calibri"/>
                <a:ea typeface="Calibri"/>
                <a:cs typeface="Calibri"/>
                <a:sym typeface="Calibri"/>
              </a:rPr>
              <a:t>What This Means Day to Day</a:t>
            </a:r>
            <a:endParaRPr sz="1100"/>
          </a:p>
        </p:txBody>
      </p:sp>
      <p:sp>
        <p:nvSpPr>
          <p:cNvPr id="226" name="Google Shape;226;p33"/>
          <p:cNvSpPr/>
          <p:nvPr/>
        </p:nvSpPr>
        <p:spPr>
          <a:xfrm>
            <a:off x="377200" y="768096"/>
            <a:ext cx="2057455" cy="28575"/>
          </a:xfrm>
          <a:prstGeom prst="rect">
            <a:avLst/>
          </a:prstGeom>
          <a:solidFill>
            <a:srgbClr val="2A78D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27" name="Google Shape;227;p33"/>
          <p:cNvSpPr txBox="1"/>
          <p:nvPr/>
        </p:nvSpPr>
        <p:spPr>
          <a:xfrm>
            <a:off x="480073" y="1028700"/>
            <a:ext cx="8161200" cy="1962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400">
                <a:solidFill>
                  <a:srgbClr val="0B0B0B"/>
                </a:solidFill>
                <a:latin typeface="Calibri"/>
                <a:ea typeface="Calibri"/>
                <a:cs typeface="Calibri"/>
                <a:sym typeface="Calibri"/>
              </a:rPr>
              <a:t>•  Turns a full read-through of an abstract into a five-second scan </a:t>
            </a:r>
            <a:r>
              <a:rPr lang="en">
                <a:solidFill>
                  <a:srgbClr val="0B0B0B"/>
                </a:solidFill>
                <a:latin typeface="Calibri"/>
                <a:ea typeface="Calibri"/>
                <a:cs typeface="Calibri"/>
                <a:sym typeface="Calibri"/>
              </a:rPr>
              <a:t>- </a:t>
            </a:r>
            <a:r>
              <a:rPr lang="en" sz="1400">
                <a:solidFill>
                  <a:srgbClr val="0B0B0B"/>
                </a:solidFill>
                <a:latin typeface="Calibri"/>
                <a:ea typeface="Calibri"/>
                <a:cs typeface="Calibri"/>
                <a:sym typeface="Calibri"/>
              </a:rPr>
              <a:t> the reader goes straight to the section they actually need.</a:t>
            </a:r>
            <a:endParaRPr sz="1100"/>
          </a:p>
          <a:p>
            <a:pPr indent="0" lvl="0" marL="0" marR="0" rtl="0" algn="l">
              <a:spcBef>
                <a:spcPts val="1000"/>
              </a:spcBef>
              <a:spcAft>
                <a:spcPts val="0"/>
              </a:spcAft>
              <a:buNone/>
            </a:pPr>
            <a:r>
              <a:rPr lang="en" sz="1400">
                <a:solidFill>
                  <a:srgbClr val="0B0B0B"/>
                </a:solidFill>
                <a:latin typeface="Calibri"/>
                <a:ea typeface="Calibri"/>
                <a:cs typeface="Calibri"/>
                <a:sym typeface="Calibri"/>
              </a:rPr>
              <a:t>•  Multiply that across every abstract someone reviews in a week, and the time saved adds up fast </a:t>
            </a:r>
            <a:r>
              <a:rPr lang="en">
                <a:solidFill>
                  <a:srgbClr val="0B0B0B"/>
                </a:solidFill>
                <a:latin typeface="Calibri"/>
                <a:ea typeface="Calibri"/>
                <a:cs typeface="Calibri"/>
                <a:sym typeface="Calibri"/>
              </a:rPr>
              <a:t>- </a:t>
            </a:r>
            <a:r>
              <a:rPr lang="en" sz="1400">
                <a:solidFill>
                  <a:srgbClr val="0B0B0B"/>
                </a:solidFill>
                <a:latin typeface="Calibri"/>
                <a:ea typeface="Calibri"/>
                <a:cs typeface="Calibri"/>
                <a:sym typeface="Calibri"/>
              </a:rPr>
              <a:t> especially for anyone doing large-scale literature reviews.</a:t>
            </a:r>
            <a:endParaRPr sz="1100"/>
          </a:p>
          <a:p>
            <a:pPr indent="0" lvl="0" marL="0" marR="0" rtl="0" algn="l">
              <a:spcBef>
                <a:spcPts val="1000"/>
              </a:spcBef>
              <a:spcAft>
                <a:spcPts val="0"/>
              </a:spcAft>
              <a:buNone/>
            </a:pPr>
            <a:r>
              <a:rPr lang="en" sz="1400">
                <a:solidFill>
                  <a:srgbClr val="0B0B0B"/>
                </a:solidFill>
                <a:latin typeface="Calibri"/>
                <a:ea typeface="Calibri"/>
                <a:cs typeface="Calibri"/>
                <a:sym typeface="Calibri"/>
              </a:rPr>
              <a:t>•  The winning model is lightweight enough (roughly 260MB) to run as a simple internal service, on hardware we already use for other internal tools</a:t>
            </a:r>
            <a:r>
              <a:rPr lang="en">
                <a:solidFill>
                  <a:srgbClr val="0B0B0B"/>
                </a:solidFill>
                <a:latin typeface="Calibri"/>
                <a:ea typeface="Calibri"/>
                <a:cs typeface="Calibri"/>
                <a:sym typeface="Calibri"/>
              </a:rPr>
              <a:t> - </a:t>
            </a:r>
            <a:r>
              <a:rPr lang="en" sz="1400">
                <a:solidFill>
                  <a:srgbClr val="0B0B0B"/>
                </a:solidFill>
                <a:latin typeface="Calibri"/>
                <a:ea typeface="Calibri"/>
                <a:cs typeface="Calibri"/>
                <a:sym typeface="Calibri"/>
              </a:rPr>
              <a:t> no special infrastructure required.</a:t>
            </a:r>
            <a:endParaRPr sz="1100"/>
          </a:p>
          <a:p>
            <a:pPr indent="0" lvl="0" marL="0" marR="0" rtl="0" algn="l">
              <a:spcBef>
                <a:spcPts val="1000"/>
              </a:spcBef>
              <a:spcAft>
                <a:spcPts val="0"/>
              </a:spcAft>
              <a:buNone/>
            </a:pPr>
            <a:r>
              <a:rPr lang="en" sz="1400">
                <a:solidFill>
                  <a:srgbClr val="0B0B0B"/>
                </a:solidFill>
                <a:latin typeface="Calibri"/>
                <a:ea typeface="Calibri"/>
                <a:cs typeface="Calibri"/>
                <a:sym typeface="Calibri"/>
              </a:rPr>
              <a:t>•  Trained once, on our own data </a:t>
            </a:r>
            <a:r>
              <a:rPr lang="en">
                <a:solidFill>
                  <a:srgbClr val="0B0B0B"/>
                </a:solidFill>
                <a:latin typeface="Calibri"/>
                <a:ea typeface="Calibri"/>
                <a:cs typeface="Calibri"/>
                <a:sym typeface="Calibri"/>
              </a:rPr>
              <a:t>-</a:t>
            </a:r>
            <a:r>
              <a:rPr lang="en" sz="1400">
                <a:solidFill>
                  <a:srgbClr val="0B0B0B"/>
                </a:solidFill>
                <a:latin typeface="Calibri"/>
                <a:ea typeface="Calibri"/>
                <a:cs typeface="Calibri"/>
                <a:sym typeface="Calibri"/>
              </a:rPr>
              <a:t> no per-use licensing cost, and it's ours to run as much as we want.</a:t>
            </a:r>
            <a:endParaRPr sz="1100"/>
          </a:p>
        </p:txBody>
      </p:sp>
      <p:sp>
        <p:nvSpPr>
          <p:cNvPr id="228" name="Google Shape;228;p33"/>
          <p:cNvSpPr txBox="1"/>
          <p:nvPr/>
        </p:nvSpPr>
        <p:spPr>
          <a:xfrm>
            <a:off x="8161238" y="4869180"/>
            <a:ext cx="822982" cy="20574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lang="en" sz="800">
                <a:solidFill>
                  <a:srgbClr val="52514E"/>
                </a:solidFill>
                <a:latin typeface="Calibri"/>
                <a:ea typeface="Calibri"/>
                <a:cs typeface="Calibri"/>
                <a:sym typeface="Calibri"/>
              </a:rPr>
              <a:t>9</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4"/>
          <p:cNvSpPr/>
          <p:nvPr/>
        </p:nvSpPr>
        <p:spPr>
          <a:xfrm>
            <a:off x="0" y="0"/>
            <a:ext cx="9144015" cy="51435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35" name="Google Shape;235;p34"/>
          <p:cNvSpPr/>
          <p:nvPr/>
        </p:nvSpPr>
        <p:spPr>
          <a:xfrm>
            <a:off x="0" y="0"/>
            <a:ext cx="9144015" cy="5143500"/>
          </a:xfrm>
          <a:prstGeom prst="rect">
            <a:avLst/>
          </a:prstGeom>
          <a:solidFill>
            <a:srgbClr val="2A78D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36" name="Google Shape;236;p34"/>
          <p:cNvSpPr txBox="1"/>
          <p:nvPr/>
        </p:nvSpPr>
        <p:spPr>
          <a:xfrm>
            <a:off x="685818" y="2057400"/>
            <a:ext cx="7749747" cy="685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3300">
                <a:solidFill>
                  <a:srgbClr val="FFFFFF"/>
                </a:solidFill>
                <a:latin typeface="Calibri"/>
                <a:ea typeface="Calibri"/>
                <a:cs typeface="Calibri"/>
                <a:sym typeface="Calibri"/>
              </a:rPr>
              <a:t>Thank You</a:t>
            </a:r>
            <a:endParaRPr sz="1100"/>
          </a:p>
        </p:txBody>
      </p:sp>
      <p:sp>
        <p:nvSpPr>
          <p:cNvPr id="237" name="Google Shape;237;p34"/>
          <p:cNvSpPr txBox="1"/>
          <p:nvPr/>
        </p:nvSpPr>
        <p:spPr>
          <a:xfrm>
            <a:off x="685818" y="2743200"/>
            <a:ext cx="7749747" cy="4114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700">
                <a:solidFill>
                  <a:srgbClr val="FFFFFF"/>
                </a:solidFill>
                <a:latin typeface="Calibri"/>
                <a:ea typeface="Calibri"/>
                <a:cs typeface="Calibri"/>
                <a:sym typeface="Calibri"/>
              </a:rPr>
              <a:t>Questions?</a:t>
            </a:r>
            <a:endParaRPr sz="1100"/>
          </a:p>
        </p:txBody>
      </p:sp>
      <p:sp>
        <p:nvSpPr>
          <p:cNvPr id="238" name="Google Shape;238;p34"/>
          <p:cNvSpPr txBox="1"/>
          <p:nvPr/>
        </p:nvSpPr>
        <p:spPr>
          <a:xfrm>
            <a:off x="685818" y="4320540"/>
            <a:ext cx="7749747" cy="4114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200">
                <a:solidFill>
                  <a:srgbClr val="FFFFFF"/>
                </a:solidFill>
                <a:latin typeface="Calibri"/>
                <a:ea typeface="Calibri"/>
                <a:cs typeface="Calibri"/>
                <a:sym typeface="Calibri"/>
              </a:rPr>
              <a:t>Ramachandra Udupa   |   Employee ID: 290997</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