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8" r:id="rId20"/>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Naive (first attempt)</c:v>
                </c:pt>
              </c:strCache>
            </c:strRef>
          </c:tx>
          <c:spPr>
            <a:solidFill>
              <a:srgbClr val="2A78D6"/>
            </a:solidFill>
          </c:spPr>
          <c:cat>
            <c:strRef>
              <c:f>Sheet1!$A$2:$A$6</c:f>
              <c:strCache>
                <c:ptCount val="5"/>
                <c:pt idx="0">
                  <c:v>Naive Bayes
(TF-IDF)</c:v>
                </c:pt>
                <c:pt idx="1">
                  <c:v>Word-Level
Neural Net</c:v>
                </c:pt>
                <c:pt idx="2">
                  <c:v>Pretrained
Sentence Encoder</c:v>
                </c:pt>
                <c:pt idx="3">
                  <c:v>Character-Level
Neural Net</c:v>
                </c:pt>
                <c:pt idx="4">
                  <c:v>Fine-Tuned
DistilBERT</c:v>
                </c:pt>
              </c:strCache>
            </c:strRef>
          </c:cat>
          <c:val>
            <c:numRef>
              <c:f>Sheet1!$B$2:$B$6</c:f>
              <c:numCache>
                <c:formatCode>General</c:formatCode>
                <c:ptCount val="5"/>
                <c:pt idx="0">
                  <c:v>73.17</c:v>
                </c:pt>
                <c:pt idx="1">
                  <c:v>80.77</c:v>
                </c:pt>
                <c:pt idx="2">
                  <c:v>72.12</c:v>
                </c:pt>
                <c:pt idx="3">
                  <c:v>58.32</c:v>
                </c:pt>
                <c:pt idx="4">
                  <c:v>83.72</c:v>
                </c:pt>
              </c:numCache>
            </c:numRef>
          </c:val>
        </c:ser>
        <c:ser>
          <c:idx val="1"/>
          <c:order val="1"/>
          <c:tx>
            <c:strRef>
              <c:f>Sheet1!$C$1</c:f>
              <c:strCache>
                <c:ptCount val="1"/>
                <c:pt idx="0">
                  <c:v>Tuned</c:v>
                </c:pt>
              </c:strCache>
            </c:strRef>
          </c:tx>
          <c:spPr>
            <a:solidFill>
              <a:srgbClr val="EB6834"/>
            </a:solidFill>
          </c:spPr>
          <c:cat>
            <c:strRef>
              <c:f>Sheet1!$A$2:$A$6</c:f>
              <c:strCache>
                <c:ptCount val="5"/>
                <c:pt idx="0">
                  <c:v>Naive Bayes
(TF-IDF)</c:v>
                </c:pt>
                <c:pt idx="1">
                  <c:v>Word-Level
Neural Net</c:v>
                </c:pt>
                <c:pt idx="2">
                  <c:v>Pretrained
Sentence Encoder</c:v>
                </c:pt>
                <c:pt idx="3">
                  <c:v>Character-Level
Neural Net</c:v>
                </c:pt>
                <c:pt idx="4">
                  <c:v>Fine-Tuned
DistilBERT</c:v>
                </c:pt>
              </c:strCache>
            </c:strRef>
          </c:cat>
          <c:val>
            <c:numRef>
              <c:f>Sheet1!$C$2:$C$6</c:f>
              <c:numCache>
                <c:formatCode>General</c:formatCode>
                <c:ptCount val="5"/>
                <c:pt idx="0">
                  <c:v>75.34</c:v>
                </c:pt>
                <c:pt idx="1">
                  <c:v>81.76</c:v>
                </c:pt>
                <c:pt idx="2">
                  <c:v>77.91</c:v>
                </c:pt>
                <c:pt idx="3">
                  <c:v>80.83</c:v>
                </c:pt>
                <c:pt idx="4">
                  <c:v>87.07</c:v>
                </c:pt>
              </c:numCache>
            </c:numRef>
          </c:val>
        </c:ser>
        <c:dLbls>
          <c:numFmt formatCode="0.0&quot;%&quot;" sourceLinked="0"/>
          <c:txPr>
            <a:bodyPr/>
            <a:lstStyle/>
            <a:p>
              <a:pPr>
                <a:defRPr sz="1100">
                  <a:solidFill>
                    <a:srgbClr val="0B0B0B"/>
                  </a:solidFill>
                  <a:latin typeface="Calibri"/>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52514E"/>
            </a:solidFill>
          </a:ln>
        </c:spPr>
        <c:txPr>
          <a:bodyPr/>
          <a:lstStyle/>
          <a:p>
            <a:pPr>
              <a:defRPr sz="1200">
                <a:latin typeface="Calibri"/>
              </a:defRPr>
            </a:pPr>
          </a:p>
        </c:txPr>
        <c:crossAx val="-2113994440"/>
        <c:crosses val="autoZero"/>
        <c:auto val="1"/>
        <c:lblAlgn val="ctr"/>
        <c:lblOffset val="100"/>
        <c:noMultiLvlLbl val="0"/>
      </c:catAx>
      <c:valAx>
        <c:axId val="-2113994440"/>
        <c:scaling>
          <c:max val="100.0"/>
          <c:min val="0.0"/>
        </c:scaling>
        <c:delete val="0"/>
        <c:axPos val="l"/>
        <c:majorTickMark val="out"/>
        <c:minorTickMark val="none"/>
        <c:tickLblPos val="nextTo"/>
        <c:spPr>
          <a:ln>
            <a:solidFill>
              <a:srgbClr val="52514E"/>
            </a:solidFill>
          </a:ln>
        </c:spPr>
        <c:txPr>
          <a:bodyPr/>
          <a:lstStyle/>
          <a:p>
            <a:pPr>
              <a:defRPr sz="1100">
                <a:latin typeface="Calibri"/>
              </a:defRPr>
            </a:pPr>
          </a:p>
        </c:txPr>
        <c:crossAx val="-2068027336"/>
        <c:crosses val="autoZero"/>
      </c:valAx>
    </c:plotArea>
    <c:legend>
      <c:legendPos val="b"/>
      <c:overlay val="0"/>
      <c:txPr>
        <a:bodyPr/>
        <a:lstStyle/>
        <a:p>
          <a:pPr>
            <a:defRPr sz="1400">
              <a:latin typeface="Calibri"/>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intro: who I am and what this project is. The one-line version — abstracts are hard to skim,</a:t>
            </a:r>
          </a:p>
          <a:p>
            <a:r>
              <a:t>so I built a model that automatically restructures them into something scannable. I'll walk through</a:t>
            </a:r>
          </a:p>
          <a:p>
            <a:r>
              <a:t>the problem, the five approaches I tried, the results, a live example, and what I'd recommend we do</a:t>
            </a:r>
          </a:p>
          <a:p>
            <a:r>
              <a:t>with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business case in plain terms: nobody wants to read a full paragraph just to find one</a:t>
            </a:r>
          </a:p>
          <a:p>
            <a:r>
              <a:t>sentence. It's not a one-off annoyance either — it's a time cost that repeats every single time</a:t>
            </a:r>
          </a:p>
          <a:p>
            <a:r>
              <a:t>anyone on the research or clinical side does a literature review. I'll show a live example of exactly</a:t>
            </a:r>
          </a:p>
          <a:p>
            <a:r>
              <a:t>this problem in a few slides, using a real abstract.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idea is simple even though the models behind it aren't: read a sentence, decide which of</a:t>
            </a:r>
          </a:p>
          <a:p>
            <a:r>
              <a:t>five buckets it belongs in, repeat for every sentence in the abstract. Once we have those labels,</a:t>
            </a:r>
          </a:p>
          <a:p>
            <a:r>
              <a:t>laying the abstract out nicely is just formatting — the hard part, and the bulk of this project, was</a:t>
            </a:r>
          </a:p>
          <a:p>
            <a:r>
              <a:t>getting those labels right.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None of this is synthetic — it's about 240,000 real sentences from real trial abstracts. The reason</a:t>
            </a:r>
          </a:p>
          <a:p>
            <a:r>
              <a:t>we split it three ways is discipline: we tune models against the validation set as much as we like,</a:t>
            </a:r>
          </a:p>
          <a:p>
            <a:r>
              <a:t>but the test numbers only get looked at once, right at the end, so we're not fooling ourselves about</a:t>
            </a:r>
          </a:p>
          <a:p>
            <a:r>
              <a:t>how well this actually generalizes to abstracts the model has never seen.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didn't jump straight to the fanciest option. Each of these five got the same fair process: build</a:t>
            </a:r>
          </a:p>
          <a:p>
            <a:r>
              <a:t>it, run a naive version to get a baseline, then tune it, then measure it the same way every time —</a:t>
            </a:r>
          </a:p>
          <a:p>
            <a:r>
              <a:t>validation and test — so the comparison on the next few slides is a genuinely fair one.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bar pair here shows the tuned version beating the naive version — that alone tells us tuning</a:t>
            </a:r>
          </a:p>
          <a:p>
            <a:r>
              <a:t>was worth doing across the board, not just for one lucky model. And DistilBERT's test score, 86.5%,</a:t>
            </a:r>
          </a:p>
          <a:p>
            <a:r>
              <a:t>tracks right alongside its validation score of 87.5%, which is a good sign we're not just seeing</a:t>
            </a:r>
          </a:p>
          <a:p>
            <a:r>
              <a:t>something that happened to get lucky on the validation set.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things worth remembering: tuning always helped, an off-the-shelf embedding actually lost to our</a:t>
            </a:r>
          </a:p>
          <a:p>
            <a:r>
              <a:t>own custom model, the character-level model had the single biggest turnaround from tuning, DistilBERT</a:t>
            </a:r>
          </a:p>
          <a:p>
            <a:r>
              <a:t>won outright, and its test-set score barely dropped from validation — so we're not looking at a model</a:t>
            </a:r>
          </a:p>
          <a:p>
            <a:r>
              <a:t>that just memorized the validation set.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not a mockup — this is the real trained model, run against a real abstract it had never seen,</a:t>
            </a:r>
          </a:p>
          <a:p>
            <a:r>
              <a:t>live in the notebook. Left side is exactly what you'd get pasted from a paper. Right side is what the</a:t>
            </a:r>
          </a:p>
          <a:p>
            <a:r>
              <a:t>model produced automatically: Objective, then all five Methods sentences grouped together, then</a:t>
            </a:r>
          </a:p>
          <a:p>
            <a:r>
              <a:t>Results — no manual work, no hints about where the boundaries were. That's the entire value</a:t>
            </a:r>
          </a:p>
          <a:p>
            <a:r>
              <a:t>proposition of this project in one slide.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recommendation is the fine-tuned DistilBERT model, but I'd stage the rollout rather than flipping</a:t>
            </a:r>
          </a:p>
          <a:p>
            <a:r>
              <a:t>it on everywhere at once — start with one team, see where it actually gets things wrong on real</a:t>
            </a:r>
          </a:p>
          <a:p>
            <a:r>
              <a:t>incoming abstracts, and use that feedback before expanding further. And if there's ever a reason to</a:t>
            </a:r>
          </a:p>
          <a:p>
            <a:r>
              <a:t>care more about speed or running cost than the last few points of accuracy, the tuned Conv1D models</a:t>
            </a:r>
          </a:p>
          <a:p>
            <a:r>
              <a:t>are a genuinely solid fallback, not just a consolation prize.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really about translating the accuracy numbers into something that matters day to day:</a:t>
            </a:r>
          </a:p>
          <a:p>
            <a:r>
              <a:t>less time spent hunting through paragraphs, and a model that's cheap enough to actually deploy without</a:t>
            </a:r>
          </a:p>
          <a:p>
            <a:r>
              <a:t>standing up new infrastructure. It's a one-time training cost, then it's just ours to use.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Roughly in order: ship a simple internal tool first, pilot it with one real team and actually listen</a:t>
            </a:r>
          </a:p>
          <a:p>
            <a:r>
              <a:t>to where it's wrong, then think bigger — other document types, bigger models — once we trust it.</a:t>
            </a:r>
          </a:p>
          <a:p>
            <a:r>
              <a:t>And this isn't a train-once-and-forget situation; language in the literature shifts over time, so</a:t>
            </a:r>
          </a:p>
          <a:p>
            <a:r>
              <a:t>whoever owns this should plan to periodically check it's still performing well.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five approaches tried, fine-tuned DistilBERT came out on top at 87.5%/86.5%, and we have a</a:t>
            </a:r>
          </a:p>
          <a:p>
            <a:r>
              <a:t>working live example to prove it isn't just a number on a slide. Open it up for questions from here.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0"/>
            <a:ext cx="10332720" cy="822960"/>
          </a:xfrm>
          <a:prstGeom prst="rect">
            <a:avLst/>
          </a:prstGeom>
          <a:noFill/>
        </p:spPr>
        <p:txBody>
          <a:bodyPr wrap="square">
            <a:spAutoFit/>
          </a:bodyPr>
          <a:lstStyle/>
          <a:p>
            <a:pPr algn="l"/>
            <a:r>
              <a:rPr sz="3400" b="1" i="0">
                <a:solidFill>
                  <a:srgbClr val="FFFFFF"/>
                </a:solidFill>
                <a:latin typeface="Calibri"/>
              </a:rPr>
              <a:t>Making Medical Abstracts Easier to Read</a:t>
            </a:r>
          </a:p>
        </p:txBody>
      </p:sp>
      <p:sp>
        <p:nvSpPr>
          <p:cNvPr id="5" name="TextBox 4"/>
          <p:cNvSpPr txBox="1"/>
          <p:nvPr/>
        </p:nvSpPr>
        <p:spPr>
          <a:xfrm>
            <a:off x="914400" y="3246120"/>
            <a:ext cx="10332720" cy="731520"/>
          </a:xfrm>
          <a:prstGeom prst="rect">
            <a:avLst/>
          </a:prstGeom>
          <a:noFill/>
        </p:spPr>
        <p:txBody>
          <a:bodyPr wrap="square">
            <a:spAutoFit/>
          </a:bodyPr>
          <a:lstStyle/>
          <a:p>
            <a:pPr algn="l"/>
            <a:r>
              <a:rPr sz="2000" b="0" i="0">
                <a:solidFill>
                  <a:srgbClr val="FFFFFF"/>
                </a:solidFill>
                <a:latin typeface="Calibri"/>
              </a:rPr>
              <a:t>Sequential Sentence Classification  —  PubMed 20k RCT Capstone Project</a:t>
            </a:r>
          </a:p>
        </p:txBody>
      </p:sp>
      <p:sp>
        <p:nvSpPr>
          <p:cNvPr id="6" name="TextBox 5"/>
          <p:cNvSpPr txBox="1"/>
          <p:nvPr/>
        </p:nvSpPr>
        <p:spPr>
          <a:xfrm>
            <a:off x="914400" y="5760720"/>
            <a:ext cx="10332720" cy="548640"/>
          </a:xfrm>
          <a:prstGeom prst="rect">
            <a:avLst/>
          </a:prstGeom>
          <a:noFill/>
        </p:spPr>
        <p:txBody>
          <a:bodyPr wrap="square">
            <a:spAutoFit/>
          </a:bodyPr>
          <a:lstStyle/>
          <a:p>
            <a:pPr algn="l"/>
            <a:r>
              <a:rPr sz="1600" b="1" i="0">
                <a:solidFill>
                  <a:srgbClr val="FFFFFF"/>
                </a:solidFill>
                <a:latin typeface="Calibri"/>
              </a:rPr>
              <a:t>Ramachandra Udupa   |   Employee ID: 290997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105156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777240"/>
          </a:xfrm>
          <a:prstGeom prst="rect">
            <a:avLst/>
          </a:prstGeom>
          <a:noFill/>
        </p:spPr>
        <p:txBody>
          <a:bodyPr wrap="square">
            <a:spAutoFit/>
          </a:bodyPr>
          <a:lstStyle/>
          <a:p>
            <a:r>
              <a:rPr sz="3000" b="1">
                <a:solidFill>
                  <a:srgbClr val="0B0B0B"/>
                </a:solidFill>
                <a:latin typeface="Calibri"/>
              </a:rPr>
              <a:t>The Problem</a:t>
            </a:r>
          </a:p>
        </p:txBody>
      </p:sp>
      <p:sp>
        <p:nvSpPr>
          <p:cNvPr id="5" name="Rectangle 4"/>
          <p:cNvSpPr/>
          <p:nvPr/>
        </p:nvSpPr>
        <p:spPr>
          <a:xfrm>
            <a:off x="502920" y="1024128"/>
            <a:ext cx="274320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10881360" cy="5029200"/>
          </a:xfrm>
          <a:prstGeom prst="rect">
            <a:avLst/>
          </a:prstGeom>
          <a:noFill/>
        </p:spPr>
        <p:txBody>
          <a:bodyPr wrap="square">
            <a:spAutoFit/>
          </a:bodyPr>
          <a:lstStyle/>
          <a:p>
            <a:pPr>
              <a:spcAft>
                <a:spcPts val="1300"/>
              </a:spcAft>
            </a:pPr>
            <a:r>
              <a:rPr sz="1900">
                <a:solidFill>
                  <a:srgbClr val="0B0B0B"/>
                </a:solidFill>
                <a:latin typeface="Calibri"/>
              </a:rPr>
              <a:t>•  Medical research abstracts pack Background, Objective, Methods, Results, and Conclusions into one dense, unlabeled paragraph — typically 200 to 300 words with zero visual separation between sections.</a:t>
            </a:r>
          </a:p>
          <a:p>
            <a:pPr>
              <a:spcAft>
                <a:spcPts val="1300"/>
              </a:spcAft>
            </a:pPr>
            <a:r>
              <a:rPr sz="1900">
                <a:solidFill>
                  <a:srgbClr val="0B0B0B"/>
                </a:solidFill>
                <a:latin typeface="Calibri"/>
              </a:rPr>
              <a:t>•  Anyone reviewing a paper — a clinician, a researcher, anyone doing a literature review — has to read the whole thing just to find the one part they actually need.</a:t>
            </a:r>
          </a:p>
          <a:p>
            <a:pPr>
              <a:spcAft>
                <a:spcPts val="1300"/>
              </a:spcAft>
            </a:pPr>
            <a:r>
              <a:rPr sz="1900">
                <a:solidFill>
                  <a:srgbClr val="0B0B0B"/>
                </a:solidFill>
                <a:latin typeface="Calibri"/>
              </a:rPr>
              <a:t>•  That's a real bottleneck for systematic reviews and meta-analyses, where someone might need to scan hundreds or thousands of abstracts in one pass.</a:t>
            </a:r>
          </a:p>
          <a:p>
            <a:pPr>
              <a:spcAft>
                <a:spcPts val="1300"/>
              </a:spcAft>
            </a:pPr>
            <a:r>
              <a:rPr sz="1900">
                <a:solidFill>
                  <a:srgbClr val="0B0B0B"/>
                </a:solidFill>
                <a:latin typeface="Calibri"/>
              </a:rPr>
              <a:t>•  A handful of journals format their abstracts with section headers already, but most don't, and there's no practical way to retrofit the existing literature by hand.</a:t>
            </a:r>
          </a:p>
        </p:txBody>
      </p:sp>
      <p:sp>
        <p:nvSpPr>
          <p:cNvPr id="7" name="TextBox 6"/>
          <p:cNvSpPr txBox="1"/>
          <p:nvPr/>
        </p:nvSpPr>
        <p:spPr>
          <a:xfrm>
            <a:off x="10881360" y="6492240"/>
            <a:ext cx="1097280" cy="274320"/>
          </a:xfrm>
          <a:prstGeom prst="rect">
            <a:avLst/>
          </a:prstGeom>
          <a:noFill/>
        </p:spPr>
        <p:txBody>
          <a:bodyPr wrap="none">
            <a:spAutoFit/>
          </a:bodyPr>
          <a:lstStyle/>
          <a:p>
            <a:pPr algn="r"/>
            <a:r>
              <a:rPr sz="1100">
                <a:solidFill>
                  <a:srgbClr val="52514E"/>
                </a:solidFill>
                <a:latin typeface="Calibri"/>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105156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777240"/>
          </a:xfrm>
          <a:prstGeom prst="rect">
            <a:avLst/>
          </a:prstGeom>
          <a:noFill/>
        </p:spPr>
        <p:txBody>
          <a:bodyPr wrap="square">
            <a:spAutoFit/>
          </a:bodyPr>
          <a:lstStyle/>
          <a:p>
            <a:r>
              <a:rPr sz="3000" b="1">
                <a:solidFill>
                  <a:srgbClr val="0B0B0B"/>
                </a:solidFill>
                <a:latin typeface="Calibri"/>
              </a:rPr>
              <a:t>The Idea</a:t>
            </a:r>
          </a:p>
        </p:txBody>
      </p:sp>
      <p:sp>
        <p:nvSpPr>
          <p:cNvPr id="5" name="Rectangle 4"/>
          <p:cNvSpPr/>
          <p:nvPr/>
        </p:nvSpPr>
        <p:spPr>
          <a:xfrm>
            <a:off x="502920" y="1024128"/>
            <a:ext cx="2743200" cy="381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10881360" cy="5029200"/>
          </a:xfrm>
          <a:prstGeom prst="rect">
            <a:avLst/>
          </a:prstGeom>
          <a:noFill/>
        </p:spPr>
        <p:txBody>
          <a:bodyPr wrap="square">
            <a:spAutoFit/>
          </a:bodyPr>
          <a:lstStyle/>
          <a:p>
            <a:pPr>
              <a:spcAft>
                <a:spcPts val="1300"/>
              </a:spcAft>
            </a:pPr>
            <a:r>
              <a:rPr sz="1900">
                <a:solidFill>
                  <a:srgbClr val="0B0B0B"/>
                </a:solidFill>
                <a:latin typeface="Calibri"/>
              </a:rPr>
              <a:t>•  Build a model that reads an abstract one sentence at a time and tags each one: Background, Objective, Methods, Results, or Conclusions.</a:t>
            </a:r>
          </a:p>
          <a:p>
            <a:pPr>
              <a:spcAft>
                <a:spcPts val="1300"/>
              </a:spcAft>
            </a:pPr>
            <a:r>
              <a:rPr sz="1900">
                <a:solidFill>
                  <a:srgbClr val="0B0B0B"/>
                </a:solidFill>
                <a:latin typeface="Calibri"/>
              </a:rPr>
              <a:t>•  Once every sentence is tagged, we can automatically reformat the abstract into a clean, scannable structure — no manual editing needed.</a:t>
            </a:r>
          </a:p>
          <a:p>
            <a:pPr>
              <a:spcAft>
                <a:spcPts val="1300"/>
              </a:spcAft>
            </a:pPr>
            <a:r>
              <a:rPr sz="1900">
                <a:solidFill>
                  <a:srgbClr val="0B0B0B"/>
                </a:solidFill>
                <a:latin typeface="Calibri"/>
              </a:rPr>
              <a:t>•  This is what's called sequential sentence classification: each sentence gets its own label, but the model still gets to consider it in the context of the sentences around it.</a:t>
            </a:r>
          </a:p>
          <a:p>
            <a:pPr>
              <a:spcAft>
                <a:spcPts val="1300"/>
              </a:spcAft>
            </a:pPr>
            <a:r>
              <a:rPr sz="1900">
                <a:solidFill>
                  <a:srgbClr val="0B0B0B"/>
                </a:solidFill>
                <a:latin typeface="Calibri"/>
              </a:rPr>
              <a:t>•  The end output isn't just a set of labels — it's a genuinely more readable document, ready to hand to anyone who needs to skim it fast.</a:t>
            </a:r>
          </a:p>
        </p:txBody>
      </p:sp>
      <p:sp>
        <p:nvSpPr>
          <p:cNvPr id="7" name="TextBox 6"/>
          <p:cNvSpPr txBox="1"/>
          <p:nvPr/>
        </p:nvSpPr>
        <p:spPr>
          <a:xfrm>
            <a:off x="10881360" y="6492240"/>
            <a:ext cx="1097280" cy="274320"/>
          </a:xfrm>
          <a:prstGeom prst="rect">
            <a:avLst/>
          </a:prstGeom>
          <a:noFill/>
        </p:spPr>
        <p:txBody>
          <a:bodyPr wrap="none">
            <a:spAutoFit/>
          </a:bodyPr>
          <a:lstStyle/>
          <a:p>
            <a:pPr algn="r"/>
            <a:r>
              <a:rPr sz="1100">
                <a:solidFill>
                  <a:srgbClr val="52514E"/>
                </a:solidFill>
                <a:latin typeface="Calibri"/>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105156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777240"/>
          </a:xfrm>
          <a:prstGeom prst="rect">
            <a:avLst/>
          </a:prstGeom>
          <a:noFill/>
        </p:spPr>
        <p:txBody>
          <a:bodyPr wrap="square">
            <a:spAutoFit/>
          </a:bodyPr>
          <a:lstStyle/>
          <a:p>
            <a:r>
              <a:rPr sz="3000" b="1">
                <a:solidFill>
                  <a:srgbClr val="0B0B0B"/>
                </a:solidFill>
                <a:latin typeface="Calibri"/>
              </a:rPr>
              <a:t>The Data</a:t>
            </a:r>
          </a:p>
        </p:txBody>
      </p:sp>
      <p:sp>
        <p:nvSpPr>
          <p:cNvPr id="5" name="Rectangle 4"/>
          <p:cNvSpPr/>
          <p:nvPr/>
        </p:nvSpPr>
        <p:spPr>
          <a:xfrm>
            <a:off x="502920" y="1024128"/>
            <a:ext cx="274320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10881360" cy="5029200"/>
          </a:xfrm>
          <a:prstGeom prst="rect">
            <a:avLst/>
          </a:prstGeom>
          <a:noFill/>
        </p:spPr>
        <p:txBody>
          <a:bodyPr wrap="square">
            <a:spAutoFit/>
          </a:bodyPr>
          <a:lstStyle/>
          <a:p>
            <a:pPr>
              <a:spcAft>
                <a:spcPts val="1300"/>
              </a:spcAft>
            </a:pPr>
            <a:r>
              <a:rPr sz="1900">
                <a:solidFill>
                  <a:srgbClr val="0B0B0B"/>
                </a:solidFill>
                <a:latin typeface="Calibri"/>
              </a:rPr>
              <a:t>•  PubMed 20k RCT: a public dataset of real randomized controlled trial abstracts pulled from PubMed.</a:t>
            </a:r>
          </a:p>
          <a:p>
            <a:pPr>
              <a:spcAft>
                <a:spcPts val="1300"/>
              </a:spcAft>
            </a:pPr>
            <a:r>
              <a:rPr b="1" sz="1900">
                <a:solidFill>
                  <a:srgbClr val="0B0B0B"/>
                </a:solidFill>
                <a:latin typeface="Calibri"/>
              </a:rPr>
              <a:t>•  About 20,000 abstracts in total,  </a:t>
            </a:r>
            <a:r>
              <a:rPr sz="1900">
                <a:solidFill>
                  <a:srgbClr val="52514E"/>
                </a:solidFill>
                <a:latin typeface="Calibri"/>
              </a:rPr>
              <a:t>already broken down sentence by sentence, with every sentence hand-labeled into one of our five categories.</a:t>
            </a:r>
          </a:p>
          <a:p>
            <a:pPr>
              <a:spcAft>
                <a:spcPts val="1300"/>
              </a:spcAft>
            </a:pPr>
            <a:r>
              <a:rPr b="1" sz="1900">
                <a:solidFill>
                  <a:srgbClr val="0B0B0B"/>
                </a:solidFill>
                <a:latin typeface="Calibri"/>
              </a:rPr>
              <a:t>•  Split three ways, on purpose:  </a:t>
            </a:r>
            <a:r>
              <a:rPr sz="1900">
                <a:solidFill>
                  <a:srgbClr val="52514E"/>
                </a:solidFill>
                <a:latin typeface="Calibri"/>
              </a:rPr>
              <a:t/>
            </a:r>
          </a:p>
          <a:p>
            <a:pPr lvl="1">
              <a:spcAft>
                <a:spcPts val="1300"/>
              </a:spcAft>
            </a:pPr>
            <a:r>
              <a:rPr sz="1600">
                <a:solidFill>
                  <a:srgbClr val="52514E"/>
                </a:solidFill>
                <a:latin typeface="Calibri"/>
              </a:rPr>
              <a:t>–  Training set — 180,040 sentences the models actually learn from.</a:t>
            </a:r>
          </a:p>
          <a:p>
            <a:pPr lvl="1">
              <a:spcAft>
                <a:spcPts val="1300"/>
              </a:spcAft>
            </a:pPr>
            <a:r>
              <a:rPr sz="1600">
                <a:solidFill>
                  <a:srgbClr val="52514E"/>
                </a:solidFill>
                <a:latin typeface="Calibri"/>
              </a:rPr>
              <a:t>–  Validation set — 30,212 sentences used to tune and compare models along the way.</a:t>
            </a:r>
          </a:p>
          <a:p>
            <a:pPr lvl="1">
              <a:spcAft>
                <a:spcPts val="1300"/>
              </a:spcAft>
            </a:pPr>
            <a:r>
              <a:rPr sz="1600">
                <a:solidFill>
                  <a:srgbClr val="52514E"/>
                </a:solidFill>
                <a:latin typeface="Calibri"/>
              </a:rPr>
              <a:t>–  Test set — 30,135 sentences, held back and checked only once, at the very end.</a:t>
            </a:r>
          </a:p>
          <a:p>
            <a:pPr>
              <a:spcAft>
                <a:spcPts val="1300"/>
              </a:spcAft>
            </a:pPr>
            <a:r>
              <a:rPr sz="1900">
                <a:solidFill>
                  <a:srgbClr val="0B0B0B"/>
                </a:solidFill>
                <a:latin typeface="Calibri"/>
              </a:rPr>
              <a:t>•  The five labels — Background, Objective, Methods, Results, Conclusions — and nothing else, so every sentence has to fit one of these.</a:t>
            </a:r>
          </a:p>
        </p:txBody>
      </p:sp>
      <p:sp>
        <p:nvSpPr>
          <p:cNvPr id="7" name="TextBox 6"/>
          <p:cNvSpPr txBox="1"/>
          <p:nvPr/>
        </p:nvSpPr>
        <p:spPr>
          <a:xfrm>
            <a:off x="10881360" y="6492240"/>
            <a:ext cx="1097280" cy="274320"/>
          </a:xfrm>
          <a:prstGeom prst="rect">
            <a:avLst/>
          </a:prstGeom>
          <a:noFill/>
        </p:spPr>
        <p:txBody>
          <a:bodyPr wrap="none">
            <a:spAutoFit/>
          </a:bodyPr>
          <a:lstStyle/>
          <a:p>
            <a:pPr algn="r"/>
            <a:r>
              <a:rPr sz="1100">
                <a:solidFill>
                  <a:srgbClr val="52514E"/>
                </a:solidFill>
                <a:latin typeface="Calibri"/>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105156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777240"/>
          </a:xfrm>
          <a:prstGeom prst="rect">
            <a:avLst/>
          </a:prstGeom>
          <a:noFill/>
        </p:spPr>
        <p:txBody>
          <a:bodyPr wrap="square">
            <a:spAutoFit/>
          </a:bodyPr>
          <a:lstStyle/>
          <a:p>
            <a:r>
              <a:rPr sz="3000" b="1">
                <a:solidFill>
                  <a:srgbClr val="0B0B0B"/>
                </a:solidFill>
                <a:latin typeface="Calibri"/>
              </a:rPr>
              <a:t>Five Approaches, Simple to Advanced</a:t>
            </a:r>
          </a:p>
        </p:txBody>
      </p:sp>
      <p:sp>
        <p:nvSpPr>
          <p:cNvPr id="5" name="Rectangle 4"/>
          <p:cNvSpPr/>
          <p:nvPr/>
        </p:nvSpPr>
        <p:spPr>
          <a:xfrm>
            <a:off x="502920" y="1024128"/>
            <a:ext cx="2743200" cy="381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10881360" cy="5029200"/>
          </a:xfrm>
          <a:prstGeom prst="rect">
            <a:avLst/>
          </a:prstGeom>
          <a:noFill/>
        </p:spPr>
        <p:txBody>
          <a:bodyPr wrap="square">
            <a:spAutoFit/>
          </a:bodyPr>
          <a:lstStyle/>
          <a:p>
            <a:pPr>
              <a:spcAft>
                <a:spcPts val="1300"/>
              </a:spcAft>
            </a:pPr>
            <a:r>
              <a:rPr b="1" sz="1800">
                <a:solidFill>
                  <a:srgbClr val="0B0B0B"/>
                </a:solidFill>
                <a:latin typeface="Calibri"/>
              </a:rPr>
              <a:t>•  Model 0 — Naive Bayes + TF-IDF:  </a:t>
            </a:r>
            <a:r>
              <a:rPr sz="1800">
                <a:solidFill>
                  <a:srgbClr val="52514E"/>
                </a:solidFill>
                <a:latin typeface="Calibri"/>
              </a:rPr>
              <a:t>a simple keyword-based baseline.</a:t>
            </a:r>
          </a:p>
          <a:p>
            <a:pPr>
              <a:spcAft>
                <a:spcPts val="1300"/>
              </a:spcAft>
            </a:pPr>
            <a:r>
              <a:rPr b="1" sz="1800">
                <a:solidFill>
                  <a:srgbClr val="0B0B0B"/>
                </a:solidFill>
                <a:latin typeface="Calibri"/>
              </a:rPr>
              <a:t>•  Model 1 — Custom Neural Network (word-level):  </a:t>
            </a:r>
            <a:r>
              <a:rPr sz="1800">
                <a:solidFill>
                  <a:srgbClr val="52514E"/>
                </a:solidFill>
                <a:latin typeface="Calibri"/>
              </a:rPr>
              <a:t>learns word patterns from our own data.</a:t>
            </a:r>
          </a:p>
          <a:p>
            <a:pPr>
              <a:spcAft>
                <a:spcPts val="1300"/>
              </a:spcAft>
            </a:pPr>
            <a:r>
              <a:rPr b="1" sz="1800">
                <a:solidFill>
                  <a:srgbClr val="0B0B0B"/>
                </a:solidFill>
                <a:latin typeface="Calibri"/>
              </a:rPr>
              <a:t>•  Model 2 — Pretrained Sentence Encoder (Google USE):  </a:t>
            </a:r>
            <a:r>
              <a:rPr sz="1800">
                <a:solidFill>
                  <a:srgbClr val="52514E"/>
                </a:solidFill>
                <a:latin typeface="Calibri"/>
              </a:rPr>
              <a:t>borrows a ready-made, general-purpose model.</a:t>
            </a:r>
          </a:p>
          <a:p>
            <a:pPr>
              <a:spcAft>
                <a:spcPts val="1300"/>
              </a:spcAft>
            </a:pPr>
            <a:r>
              <a:rPr b="1" sz="1800">
                <a:solidFill>
                  <a:srgbClr val="0B0B0B"/>
                </a:solidFill>
                <a:latin typeface="Calibri"/>
              </a:rPr>
              <a:t>•  Model 3 — Custom Neural Network (character-level):  </a:t>
            </a:r>
            <a:r>
              <a:rPr sz="1800">
                <a:solidFill>
                  <a:srgbClr val="52514E"/>
                </a:solidFill>
                <a:latin typeface="Calibri"/>
              </a:rPr>
              <a:t>learns from raw letter and word-shape patterns.</a:t>
            </a:r>
          </a:p>
          <a:p>
            <a:pPr>
              <a:spcAft>
                <a:spcPts val="1300"/>
              </a:spcAft>
            </a:pPr>
            <a:r>
              <a:rPr b="1" sz="1800">
                <a:solidFill>
                  <a:srgbClr val="0B0B0B"/>
                </a:solidFill>
                <a:latin typeface="Calibri"/>
              </a:rPr>
              <a:t>•  Model 4 — Fine-Tuned Language Model (DistilBERT):  </a:t>
            </a:r>
            <a:r>
              <a:rPr sz="1800">
                <a:solidFill>
                  <a:srgbClr val="52514E"/>
                </a:solidFill>
                <a:latin typeface="Calibri"/>
              </a:rPr>
              <a:t>adapts a pretrained language model to our exact task.</a:t>
            </a:r>
          </a:p>
        </p:txBody>
      </p:sp>
      <p:sp>
        <p:nvSpPr>
          <p:cNvPr id="7" name="TextBox 6"/>
          <p:cNvSpPr txBox="1"/>
          <p:nvPr/>
        </p:nvSpPr>
        <p:spPr>
          <a:xfrm>
            <a:off x="640080" y="5806440"/>
            <a:ext cx="10881360" cy="822960"/>
          </a:xfrm>
          <a:prstGeom prst="rect">
            <a:avLst/>
          </a:prstGeom>
          <a:noFill/>
        </p:spPr>
        <p:txBody>
          <a:bodyPr wrap="square">
            <a:spAutoFit/>
          </a:bodyPr>
          <a:lstStyle/>
          <a:p>
            <a:pPr algn="l"/>
            <a:r>
              <a:rPr sz="1500" b="0" i="1">
                <a:solidFill>
                  <a:srgbClr val="52514E"/>
                </a:solidFill>
                <a:latin typeface="Calibri"/>
              </a:rPr>
              <a:t>Every approach got the same treatment: a quick, mostly-default first pass to get a baseline, then a properly tuned version — each one scored on both the validation set and the untouched test set, so the comparison on the results slide is apples to apples.</a:t>
            </a:r>
          </a:p>
        </p:txBody>
      </p:sp>
      <p:sp>
        <p:nvSpPr>
          <p:cNvPr id="8" name="TextBox 7"/>
          <p:cNvSpPr txBox="1"/>
          <p:nvPr/>
        </p:nvSpPr>
        <p:spPr>
          <a:xfrm>
            <a:off x="10881360" y="6492240"/>
            <a:ext cx="1097280" cy="274320"/>
          </a:xfrm>
          <a:prstGeom prst="rect">
            <a:avLst/>
          </a:prstGeom>
          <a:noFill/>
        </p:spPr>
        <p:txBody>
          <a:bodyPr wrap="none">
            <a:spAutoFit/>
          </a:bodyPr>
          <a:lstStyle/>
          <a:p>
            <a:pPr algn="r"/>
            <a:r>
              <a:rPr sz="1100">
                <a:solidFill>
                  <a:srgbClr val="52514E"/>
                </a:solidFill>
                <a:latin typeface="Calibri"/>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105156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777240"/>
          </a:xfrm>
          <a:prstGeom prst="rect">
            <a:avLst/>
          </a:prstGeom>
          <a:noFill/>
        </p:spPr>
        <p:txBody>
          <a:bodyPr wrap="square">
            <a:spAutoFit/>
          </a:bodyPr>
          <a:lstStyle/>
          <a:p>
            <a:r>
              <a:rPr sz="3000" b="1">
                <a:solidFill>
                  <a:srgbClr val="0B0B0B"/>
                </a:solidFill>
                <a:latin typeface="Calibri"/>
              </a:rPr>
              <a:t>Results: Validation Accuracy</a:t>
            </a:r>
          </a:p>
        </p:txBody>
      </p:sp>
      <p:sp>
        <p:nvSpPr>
          <p:cNvPr id="5" name="Rectangle 4"/>
          <p:cNvSpPr/>
          <p:nvPr/>
        </p:nvSpPr>
        <p:spPr>
          <a:xfrm>
            <a:off x="502920" y="1024128"/>
            <a:ext cx="274320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548640" y="1371600"/>
          <a:ext cx="11064240" cy="4572000"/>
        </p:xfrm>
        <a:graphic>
          <a:graphicData uri="http://schemas.openxmlformats.org/drawingml/2006/chart">
            <c:chart xmlns:c="http://schemas.openxmlformats.org/drawingml/2006/chart" r:id="rId2"/>
          </a:graphicData>
        </a:graphic>
      </p:graphicFrame>
      <p:sp>
        <p:nvSpPr>
          <p:cNvPr id="7" name="TextBox 6"/>
          <p:cNvSpPr txBox="1"/>
          <p:nvPr/>
        </p:nvSpPr>
        <p:spPr>
          <a:xfrm>
            <a:off x="640080" y="6035040"/>
            <a:ext cx="10881360" cy="685800"/>
          </a:xfrm>
          <a:prstGeom prst="rect">
            <a:avLst/>
          </a:prstGeom>
          <a:noFill/>
        </p:spPr>
        <p:txBody>
          <a:bodyPr wrap="square">
            <a:spAutoFit/>
          </a:bodyPr>
          <a:lstStyle/>
          <a:p>
            <a:pPr algn="l"/>
            <a:r>
              <a:rPr sz="1500" b="0" i="1">
                <a:solidFill>
                  <a:srgbClr val="52514E"/>
                </a:solidFill>
                <a:latin typeface="Calibri"/>
              </a:rPr>
              <a:t>DistilBERT, fully fine-tuned: 87.1% validation, 86.0% test — our best result, every model improved after tuning, and the winner's test score barely moved from its validation score.</a:t>
            </a:r>
          </a:p>
        </p:txBody>
      </p:sp>
      <p:sp>
        <p:nvSpPr>
          <p:cNvPr id="8" name="TextBox 7"/>
          <p:cNvSpPr txBox="1"/>
          <p:nvPr/>
        </p:nvSpPr>
        <p:spPr>
          <a:xfrm>
            <a:off x="10881360" y="6492240"/>
            <a:ext cx="1097280" cy="274320"/>
          </a:xfrm>
          <a:prstGeom prst="rect">
            <a:avLst/>
          </a:prstGeom>
          <a:noFill/>
        </p:spPr>
        <p:txBody>
          <a:bodyPr wrap="none">
            <a:spAutoFit/>
          </a:bodyPr>
          <a:lstStyle/>
          <a:p>
            <a:pPr algn="r"/>
            <a:r>
              <a:rPr sz="1100">
                <a:solidFill>
                  <a:srgbClr val="52514E"/>
                </a:solidFill>
                <a:latin typeface="Calibri"/>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105156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777240"/>
          </a:xfrm>
          <a:prstGeom prst="rect">
            <a:avLst/>
          </a:prstGeom>
          <a:noFill/>
        </p:spPr>
        <p:txBody>
          <a:bodyPr wrap="square">
            <a:spAutoFit/>
          </a:bodyPr>
          <a:lstStyle/>
          <a:p>
            <a:r>
              <a:rPr sz="3000" b="1">
                <a:solidFill>
                  <a:srgbClr val="0B0B0B"/>
                </a:solidFill>
                <a:latin typeface="Calibri"/>
              </a:rPr>
              <a:t>Key Takeaways</a:t>
            </a:r>
          </a:p>
        </p:txBody>
      </p:sp>
      <p:sp>
        <p:nvSpPr>
          <p:cNvPr id="5" name="Rectangle 4"/>
          <p:cNvSpPr/>
          <p:nvPr/>
        </p:nvSpPr>
        <p:spPr>
          <a:xfrm>
            <a:off x="502920" y="1024128"/>
            <a:ext cx="2743200" cy="381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10881360" cy="5029200"/>
          </a:xfrm>
          <a:prstGeom prst="rect">
            <a:avLst/>
          </a:prstGeom>
          <a:noFill/>
        </p:spPr>
        <p:txBody>
          <a:bodyPr wrap="square">
            <a:spAutoFit/>
          </a:bodyPr>
          <a:lstStyle/>
          <a:p>
            <a:pPr>
              <a:spcAft>
                <a:spcPts val="1300"/>
              </a:spcAft>
            </a:pPr>
            <a:r>
              <a:rPr sz="1800">
                <a:solidFill>
                  <a:srgbClr val="0B0B0B"/>
                </a:solidFill>
                <a:latin typeface="Calibri"/>
              </a:rPr>
              <a:t>•  Tuning improved every single model we tried — the extra effort consistently paid off, no exceptions.</a:t>
            </a:r>
          </a:p>
          <a:p>
            <a:pPr>
              <a:spcAft>
                <a:spcPts val="1300"/>
              </a:spcAft>
            </a:pPr>
            <a:r>
              <a:rPr sz="1800">
                <a:solidFill>
                  <a:srgbClr val="0B0B0B"/>
                </a:solidFill>
                <a:latin typeface="Calibri"/>
              </a:rPr>
              <a:t>•  A ready-made, general-purpose sentence embedding (Google USE) actually underperformed our own custom-trained model. Off-the-shelf isn't automatically better for a specialized task.</a:t>
            </a:r>
          </a:p>
          <a:p>
            <a:pPr>
              <a:spcAft>
                <a:spcPts val="1300"/>
              </a:spcAft>
            </a:pPr>
            <a:r>
              <a:rPr sz="1800">
                <a:solidFill>
                  <a:srgbClr val="0B0B0B"/>
                </a:solidFill>
                <a:latin typeface="Calibri"/>
              </a:rPr>
              <a:t>•  The character-level model started out weakest of all (58.3%) but became one of our strongest after tuning (80.8%) — architecture tuning mattered as much as the underlying approach.</a:t>
            </a:r>
          </a:p>
          <a:p>
            <a:pPr>
              <a:spcAft>
                <a:spcPts val="1300"/>
              </a:spcAft>
            </a:pPr>
            <a:r>
              <a:rPr sz="1800">
                <a:solidFill>
                  <a:srgbClr val="0B0B0B"/>
                </a:solidFill>
                <a:latin typeface="Calibri"/>
              </a:rPr>
              <a:t>•  Fully fine-tuning an actual pretrained language model gave the best result by a clear margin (87.1%), well ahead of the next-best approach.</a:t>
            </a:r>
          </a:p>
          <a:p>
            <a:pPr>
              <a:spcAft>
                <a:spcPts val="1300"/>
              </a:spcAft>
            </a:pPr>
            <a:r>
              <a:rPr sz="1800">
                <a:solidFill>
                  <a:srgbClr val="0B0B0B"/>
                </a:solidFill>
                <a:latin typeface="Calibri"/>
              </a:rPr>
              <a:t>•  The winning model's test score (86.0%) landed almost exactly where its validation score did (87.1%) — a good sign it'll hold up on abstracts it hasn't seen before.</a:t>
            </a:r>
          </a:p>
        </p:txBody>
      </p:sp>
      <p:sp>
        <p:nvSpPr>
          <p:cNvPr id="7" name="TextBox 6"/>
          <p:cNvSpPr txBox="1"/>
          <p:nvPr/>
        </p:nvSpPr>
        <p:spPr>
          <a:xfrm>
            <a:off x="10881360" y="6492240"/>
            <a:ext cx="1097280" cy="274320"/>
          </a:xfrm>
          <a:prstGeom prst="rect">
            <a:avLst/>
          </a:prstGeom>
          <a:noFill/>
        </p:spPr>
        <p:txBody>
          <a:bodyPr wrap="none">
            <a:spAutoFit/>
          </a:bodyPr>
          <a:lstStyle/>
          <a:p>
            <a:pPr algn="r"/>
            <a:r>
              <a:rPr sz="1100">
                <a:solidFill>
                  <a:srgbClr val="52514E"/>
                </a:solidFill>
                <a:latin typeface="Calibri"/>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105156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777240"/>
          </a:xfrm>
          <a:prstGeom prst="rect">
            <a:avLst/>
          </a:prstGeom>
          <a:noFill/>
        </p:spPr>
        <p:txBody>
          <a:bodyPr wrap="square">
            <a:spAutoFit/>
          </a:bodyPr>
          <a:lstStyle/>
          <a:p>
            <a:r>
              <a:rPr sz="3000" b="1">
                <a:solidFill>
                  <a:srgbClr val="0B0B0B"/>
                </a:solidFill>
                <a:latin typeface="Calibri"/>
              </a:rPr>
              <a:t>From Dense Text to Structured Text</a:t>
            </a:r>
          </a:p>
        </p:txBody>
      </p:sp>
      <p:sp>
        <p:nvSpPr>
          <p:cNvPr id="5" name="Rectangle 4"/>
          <p:cNvSpPr/>
          <p:nvPr/>
        </p:nvSpPr>
        <p:spPr>
          <a:xfrm>
            <a:off x="502920" y="1024128"/>
            <a:ext cx="274320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5303520" cy="365760"/>
          </a:xfrm>
          <a:prstGeom prst="rect">
            <a:avLst/>
          </a:prstGeom>
          <a:noFill/>
        </p:spPr>
        <p:txBody>
          <a:bodyPr wrap="square">
            <a:spAutoFit/>
          </a:bodyPr>
          <a:lstStyle/>
          <a:p>
            <a:pPr algn="l"/>
            <a:r>
              <a:rPr sz="1600" b="1" i="0">
                <a:solidFill>
                  <a:srgbClr val="52514E"/>
                </a:solidFill>
                <a:latin typeface="Calibri"/>
              </a:rPr>
              <a:t>BEFORE</a:t>
            </a:r>
          </a:p>
        </p:txBody>
      </p:sp>
      <p:sp>
        <p:nvSpPr>
          <p:cNvPr id="7" name="Rectangle 6"/>
          <p:cNvSpPr/>
          <p:nvPr/>
        </p:nvSpPr>
        <p:spPr>
          <a:xfrm>
            <a:off x="640080" y="1783080"/>
            <a:ext cx="5303520" cy="4251960"/>
          </a:xfrm>
          <a:prstGeom prst="rect">
            <a:avLst/>
          </a:prstGeom>
          <a:solidFill>
            <a:srgbClr val="FCFCFB"/>
          </a:solidFill>
          <a:ln w="9525">
            <a:solidFill>
              <a:srgbClr val="52514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l"/>
            <a:r>
              <a:rPr sz="1300">
                <a:solidFill>
                  <a:srgbClr val="0B0B0B"/>
                </a:solidFill>
                <a:latin typeface="Calibri"/>
              </a:rPr>
              <a:t>Investigate the efficacy of several weeks of daily low-dose oral prednisolone in improving pain, mobility, and systemic low-grade inflammation in the short term, and whether the effect is sustained in older adults with moderate to severe knee osteoarthritis (OA). A total of a specified number of patients with primary knee OA were randomized into two groups; one group received a daily dose of prednisolone while the other received a placebo. Outcome measures included pain reduction, improvement in function scores, and systemic inflammation markers. Pain was assessed using the visual analog pain scale. Secondary outcome measures included the Western Ontario and McMaster Universities Osteoarthritis Index scores, patient global assessment of knee OA severity, and walk distance. Serum levels of various biomarkers were measured. There was a clinically relevant reduction in the intervention group compared to the placebo group for knee pain, physical function, and other measures at different time points.</a:t>
            </a:r>
          </a:p>
        </p:txBody>
      </p:sp>
      <p:sp>
        <p:nvSpPr>
          <p:cNvPr id="8" name="TextBox 7"/>
          <p:cNvSpPr txBox="1"/>
          <p:nvPr/>
        </p:nvSpPr>
        <p:spPr>
          <a:xfrm>
            <a:off x="6217920" y="1371600"/>
            <a:ext cx="5303520" cy="365760"/>
          </a:xfrm>
          <a:prstGeom prst="rect">
            <a:avLst/>
          </a:prstGeom>
          <a:noFill/>
        </p:spPr>
        <p:txBody>
          <a:bodyPr wrap="square">
            <a:spAutoFit/>
          </a:bodyPr>
          <a:lstStyle/>
          <a:p>
            <a:pPr algn="l"/>
            <a:r>
              <a:rPr sz="1600" b="1" i="0">
                <a:solidFill>
                  <a:srgbClr val="52514E"/>
                </a:solidFill>
                <a:latin typeface="Calibri"/>
              </a:rPr>
              <a:t>AFTER — auto-segmented by our model</a:t>
            </a:r>
          </a:p>
        </p:txBody>
      </p:sp>
      <p:sp>
        <p:nvSpPr>
          <p:cNvPr id="9" name="Rectangle 8"/>
          <p:cNvSpPr/>
          <p:nvPr/>
        </p:nvSpPr>
        <p:spPr>
          <a:xfrm>
            <a:off x="6217920" y="1783080"/>
            <a:ext cx="5303520" cy="4251960"/>
          </a:xfrm>
          <a:prstGeom prst="rect">
            <a:avLst/>
          </a:prstGeom>
          <a:solidFill>
            <a:srgbClr val="FCFCFB"/>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l">
              <a:spcAft>
                <a:spcPts val="1000"/>
              </a:spcAft>
            </a:pPr>
            <a:r>
              <a:rPr b="1" sz="1300">
                <a:solidFill>
                  <a:srgbClr val="2A78D6"/>
                </a:solidFill>
                <a:latin typeface="Calibri"/>
              </a:rPr>
              <a:t>Objective: </a:t>
            </a:r>
            <a:r>
              <a:rPr sz="1300">
                <a:solidFill>
                  <a:srgbClr val="0B0B0B"/>
                </a:solidFill>
                <a:latin typeface="Calibri"/>
              </a:rPr>
              <a:t>Investigate the efficacy of several weeks of daily low-dose oral prednisolone in improving pain, mobility, and systemic low-grade inflammation in the short term, and whether the effect is sustained in older adults with moderate to severe knee osteoarthritis (OA).</a:t>
            </a:r>
          </a:p>
          <a:p>
            <a:pPr algn="l">
              <a:spcAft>
                <a:spcPts val="1000"/>
              </a:spcAft>
            </a:pPr>
            <a:r>
              <a:rPr b="1" sz="1300">
                <a:solidFill>
                  <a:srgbClr val="2A78D6"/>
                </a:solidFill>
                <a:latin typeface="Calibri"/>
              </a:rPr>
              <a:t>Methods: </a:t>
            </a:r>
            <a:r>
              <a:rPr sz="1300">
                <a:solidFill>
                  <a:srgbClr val="0B0B0B"/>
                </a:solidFill>
                <a:latin typeface="Calibri"/>
              </a:rPr>
              <a:t>A total of a specified number of patients with primary knee OA were randomized into two groups; one group received a daily dose of prednisolone while the other received a placebo. Outcome measures included pain reduction, improvement in function scores, and systemic inflammation markers. Pain was assessed using the visual analog pain scale. Secondary outcome measures included the Western Ontario and McMaster Universities Osteoarthritis Index scores, patient global assessment of knee OA severity, and walk distance. Serum levels of various biomarkers were measured.</a:t>
            </a:r>
          </a:p>
          <a:p>
            <a:pPr algn="l">
              <a:spcAft>
                <a:spcPts val="1000"/>
              </a:spcAft>
            </a:pPr>
            <a:r>
              <a:rPr b="1" sz="1300">
                <a:solidFill>
                  <a:srgbClr val="2A78D6"/>
                </a:solidFill>
                <a:latin typeface="Calibri"/>
              </a:rPr>
              <a:t>Results: </a:t>
            </a:r>
            <a:r>
              <a:rPr sz="1300">
                <a:solidFill>
                  <a:srgbClr val="0B0B0B"/>
                </a:solidFill>
                <a:latin typeface="Calibri"/>
              </a:rPr>
              <a:t>There was a clinically relevant reduction in the intervention group compared to the placebo group for knee pain, physical function, and other measures at different time points.</a:t>
            </a:r>
          </a:p>
        </p:txBody>
      </p:sp>
      <p:sp>
        <p:nvSpPr>
          <p:cNvPr id="10" name="TextBox 9"/>
          <p:cNvSpPr txBox="1"/>
          <p:nvPr/>
        </p:nvSpPr>
        <p:spPr>
          <a:xfrm>
            <a:off x="640080" y="6172200"/>
            <a:ext cx="10881360" cy="457200"/>
          </a:xfrm>
          <a:prstGeom prst="rect">
            <a:avLst/>
          </a:prstGeom>
          <a:noFill/>
        </p:spPr>
        <p:txBody>
          <a:bodyPr wrap="square">
            <a:spAutoFit/>
          </a:bodyPr>
          <a:lstStyle/>
          <a:p>
            <a:pPr algn="l"/>
            <a:r>
              <a:rPr sz="1400" b="0" i="1">
                <a:solidFill>
                  <a:srgbClr val="52514E"/>
                </a:solidFill>
                <a:latin typeface="Calibri"/>
              </a:rPr>
              <a:t>This is a real abstract run through our actual trained model — nothing staged.</a:t>
            </a:r>
          </a:p>
        </p:txBody>
      </p:sp>
      <p:sp>
        <p:nvSpPr>
          <p:cNvPr id="11" name="TextBox 10"/>
          <p:cNvSpPr txBox="1"/>
          <p:nvPr/>
        </p:nvSpPr>
        <p:spPr>
          <a:xfrm>
            <a:off x="10881360" y="6492240"/>
            <a:ext cx="1097280" cy="274320"/>
          </a:xfrm>
          <a:prstGeom prst="rect">
            <a:avLst/>
          </a:prstGeom>
          <a:noFill/>
        </p:spPr>
        <p:txBody>
          <a:bodyPr wrap="none">
            <a:spAutoFit/>
          </a:bodyPr>
          <a:lstStyle/>
          <a:p>
            <a:pPr algn="r"/>
            <a:r>
              <a:rPr sz="1100">
                <a:solidFill>
                  <a:srgbClr val="52514E"/>
                </a:solidFill>
                <a:latin typeface="Calibri"/>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105156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777240"/>
          </a:xfrm>
          <a:prstGeom prst="rect">
            <a:avLst/>
          </a:prstGeom>
          <a:noFill/>
        </p:spPr>
        <p:txBody>
          <a:bodyPr wrap="square">
            <a:spAutoFit/>
          </a:bodyPr>
          <a:lstStyle/>
          <a:p>
            <a:r>
              <a:rPr sz="3000" b="1">
                <a:solidFill>
                  <a:srgbClr val="0B0B0B"/>
                </a:solidFill>
                <a:latin typeface="Calibri"/>
              </a:rPr>
              <a:t>Recommendation</a:t>
            </a:r>
          </a:p>
        </p:txBody>
      </p:sp>
      <p:sp>
        <p:nvSpPr>
          <p:cNvPr id="5" name="Rectangle 4"/>
          <p:cNvSpPr/>
          <p:nvPr/>
        </p:nvSpPr>
        <p:spPr>
          <a:xfrm>
            <a:off x="502920" y="1024128"/>
            <a:ext cx="2743200" cy="381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10881360" cy="5029200"/>
          </a:xfrm>
          <a:prstGeom prst="rect">
            <a:avLst/>
          </a:prstGeom>
          <a:noFill/>
        </p:spPr>
        <p:txBody>
          <a:bodyPr wrap="square">
            <a:spAutoFit/>
          </a:bodyPr>
          <a:lstStyle/>
          <a:p>
            <a:pPr>
              <a:spcAft>
                <a:spcPts val="1500"/>
              </a:spcAft>
            </a:pPr>
            <a:r>
              <a:rPr b="1" sz="1800">
                <a:solidFill>
                  <a:srgbClr val="0B0B0B"/>
                </a:solidFill>
                <a:latin typeface="Calibri"/>
              </a:rPr>
              <a:t>•  Deploy the fine-tuned DistilBERT model.  </a:t>
            </a:r>
            <a:r>
              <a:rPr sz="1800">
                <a:solidFill>
                  <a:srgbClr val="52514E"/>
                </a:solidFill>
                <a:latin typeface="Calibri"/>
              </a:rPr>
              <a:t>Best accuracy overall — 87.1% validation / 86.0% test — and it reliably separates all five sections.</a:t>
            </a:r>
          </a:p>
          <a:p>
            <a:pPr>
              <a:spcAft>
                <a:spcPts val="1500"/>
              </a:spcAft>
            </a:pPr>
            <a:r>
              <a:rPr b="1" sz="1800">
                <a:solidFill>
                  <a:srgbClr val="0B0B0B"/>
                </a:solidFill>
                <a:latin typeface="Calibri"/>
              </a:rPr>
              <a:t>•  Start with a pilot,  </a:t>
            </a:r>
            <a:r>
              <a:rPr sz="1800">
                <a:solidFill>
                  <a:srgbClr val="52514E"/>
                </a:solidFill>
                <a:latin typeface="Calibri"/>
              </a:rPr>
              <a:t>not a full rollout: run it against one team's incoming literature reviews first, collect feedback on any obviously wrong labels, then expand from there.</a:t>
            </a:r>
          </a:p>
          <a:p>
            <a:pPr>
              <a:spcAft>
                <a:spcPts val="1500"/>
              </a:spcAft>
            </a:pPr>
            <a:r>
              <a:rPr b="1" sz="1800">
                <a:solidFill>
                  <a:srgbClr val="0B0B0B"/>
                </a:solidFill>
                <a:latin typeface="Calibri"/>
              </a:rPr>
              <a:t>•  If speed or compute cost matters more than a few points of accuracy:  </a:t>
            </a:r>
            <a:r>
              <a:rPr sz="1800">
                <a:solidFill>
                  <a:srgbClr val="52514E"/>
                </a:solidFill>
                <a:latin typeface="Calibri"/>
              </a:rPr>
              <a:t>the tuned word-level or character-level neural networks (~78-81%) are far cheaper to run and still solid performers.</a:t>
            </a:r>
          </a:p>
          <a:p>
            <a:pPr>
              <a:spcAft>
                <a:spcPts val="1500"/>
              </a:spcAft>
            </a:pPr>
            <a:r>
              <a:rPr b="1" sz="1800">
                <a:solidFill>
                  <a:srgbClr val="0B0B0B"/>
                </a:solidFill>
                <a:latin typeface="Calibri"/>
              </a:rPr>
              <a:t>•  Either way, keep a human in the loop early on —  </a:t>
            </a:r>
            <a:r>
              <a:rPr sz="1800">
                <a:solidFill>
                  <a:srgbClr val="52514E"/>
                </a:solidFill>
                <a:latin typeface="Calibri"/>
              </a:rPr>
              <a:t>this speeds up reading, it doesn't replace judgment.</a:t>
            </a:r>
          </a:p>
        </p:txBody>
      </p:sp>
      <p:sp>
        <p:nvSpPr>
          <p:cNvPr id="7" name="TextBox 6"/>
          <p:cNvSpPr txBox="1"/>
          <p:nvPr/>
        </p:nvSpPr>
        <p:spPr>
          <a:xfrm>
            <a:off x="10881360" y="6492240"/>
            <a:ext cx="1097280" cy="274320"/>
          </a:xfrm>
          <a:prstGeom prst="rect">
            <a:avLst/>
          </a:prstGeom>
          <a:noFill/>
        </p:spPr>
        <p:txBody>
          <a:bodyPr wrap="none">
            <a:spAutoFit/>
          </a:bodyPr>
          <a:lstStyle/>
          <a:p>
            <a:pPr algn="r"/>
            <a:r>
              <a:rPr sz="1100">
                <a:solidFill>
                  <a:srgbClr val="52514E"/>
                </a:solidFill>
                <a:latin typeface="Calibri"/>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105156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777240"/>
          </a:xfrm>
          <a:prstGeom prst="rect">
            <a:avLst/>
          </a:prstGeom>
          <a:noFill/>
        </p:spPr>
        <p:txBody>
          <a:bodyPr wrap="square">
            <a:spAutoFit/>
          </a:bodyPr>
          <a:lstStyle/>
          <a:p>
            <a:r>
              <a:rPr sz="3000" b="1">
                <a:solidFill>
                  <a:srgbClr val="0B0B0B"/>
                </a:solidFill>
                <a:latin typeface="Calibri"/>
              </a:rPr>
              <a:t>What This Means Day to Day</a:t>
            </a:r>
          </a:p>
        </p:txBody>
      </p:sp>
      <p:sp>
        <p:nvSpPr>
          <p:cNvPr id="5" name="Rectangle 4"/>
          <p:cNvSpPr/>
          <p:nvPr/>
        </p:nvSpPr>
        <p:spPr>
          <a:xfrm>
            <a:off x="502920" y="1024128"/>
            <a:ext cx="274320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10881360" cy="5029200"/>
          </a:xfrm>
          <a:prstGeom prst="rect">
            <a:avLst/>
          </a:prstGeom>
          <a:noFill/>
        </p:spPr>
        <p:txBody>
          <a:bodyPr wrap="square">
            <a:spAutoFit/>
          </a:bodyPr>
          <a:lstStyle/>
          <a:p>
            <a:pPr>
              <a:spcAft>
                <a:spcPts val="1300"/>
              </a:spcAft>
            </a:pPr>
            <a:r>
              <a:rPr sz="1900">
                <a:solidFill>
                  <a:srgbClr val="0B0B0B"/>
                </a:solidFill>
                <a:latin typeface="Calibri"/>
              </a:rPr>
              <a:t>•  Turns a full read-through of an abstract into a five-second scan — the reader goes straight to the section they actually need.</a:t>
            </a:r>
          </a:p>
          <a:p>
            <a:pPr>
              <a:spcAft>
                <a:spcPts val="1300"/>
              </a:spcAft>
            </a:pPr>
            <a:r>
              <a:rPr sz="1900">
                <a:solidFill>
                  <a:srgbClr val="0B0B0B"/>
                </a:solidFill>
                <a:latin typeface="Calibri"/>
              </a:rPr>
              <a:t>•  Multiply that across every abstract someone reviews in a week, and the time saved adds up fast — especially for anyone doing large-scale literature reviews.</a:t>
            </a:r>
          </a:p>
          <a:p>
            <a:pPr>
              <a:spcAft>
                <a:spcPts val="1300"/>
              </a:spcAft>
            </a:pPr>
            <a:r>
              <a:rPr sz="1900">
                <a:solidFill>
                  <a:srgbClr val="0B0B0B"/>
                </a:solidFill>
                <a:latin typeface="Calibri"/>
              </a:rPr>
              <a:t>•  The winning model is lightweight enough (roughly 260MB) to run as a simple internal service, on hardware we already use for other internal tools — no special infrastructure required.</a:t>
            </a:r>
          </a:p>
          <a:p>
            <a:pPr>
              <a:spcAft>
                <a:spcPts val="1300"/>
              </a:spcAft>
            </a:pPr>
            <a:r>
              <a:rPr sz="1900">
                <a:solidFill>
                  <a:srgbClr val="0B0B0B"/>
                </a:solidFill>
                <a:latin typeface="Calibri"/>
              </a:rPr>
              <a:t>•  Trained once, on our own data — no per-use licensing cost, and it's ours to run as much as we want.</a:t>
            </a:r>
          </a:p>
        </p:txBody>
      </p:sp>
      <p:sp>
        <p:nvSpPr>
          <p:cNvPr id="7" name="TextBox 6"/>
          <p:cNvSpPr txBox="1"/>
          <p:nvPr/>
        </p:nvSpPr>
        <p:spPr>
          <a:xfrm>
            <a:off x="10881360" y="6492240"/>
            <a:ext cx="1097280" cy="274320"/>
          </a:xfrm>
          <a:prstGeom prst="rect">
            <a:avLst/>
          </a:prstGeom>
          <a:noFill/>
        </p:spPr>
        <p:txBody>
          <a:bodyPr wrap="none">
            <a:spAutoFit/>
          </a:bodyPr>
          <a:lstStyle/>
          <a:p>
            <a:pPr algn="r"/>
            <a:r>
              <a:rPr sz="1100">
                <a:solidFill>
                  <a:srgbClr val="52514E"/>
                </a:solidFill>
                <a:latin typeface="Calibri"/>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105156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777240"/>
          </a:xfrm>
          <a:prstGeom prst="rect">
            <a:avLst/>
          </a:prstGeom>
          <a:noFill/>
        </p:spPr>
        <p:txBody>
          <a:bodyPr wrap="square">
            <a:spAutoFit/>
          </a:bodyPr>
          <a:lstStyle/>
          <a:p>
            <a:r>
              <a:rPr sz="3000" b="1">
                <a:solidFill>
                  <a:srgbClr val="0B0B0B"/>
                </a:solidFill>
                <a:latin typeface="Calibri"/>
              </a:rPr>
              <a:t>Next Steps</a:t>
            </a:r>
          </a:p>
        </p:txBody>
      </p:sp>
      <p:sp>
        <p:nvSpPr>
          <p:cNvPr id="5" name="Rectangle 4"/>
          <p:cNvSpPr/>
          <p:nvPr/>
        </p:nvSpPr>
        <p:spPr>
          <a:xfrm>
            <a:off x="502920" y="1024128"/>
            <a:ext cx="2743200" cy="381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10881360" cy="5029200"/>
          </a:xfrm>
          <a:prstGeom prst="rect">
            <a:avLst/>
          </a:prstGeom>
          <a:noFill/>
        </p:spPr>
        <p:txBody>
          <a:bodyPr wrap="square">
            <a:spAutoFit/>
          </a:bodyPr>
          <a:lstStyle/>
          <a:p>
            <a:pPr>
              <a:spcAft>
                <a:spcPts val="1500"/>
              </a:spcAft>
            </a:pPr>
            <a:r>
              <a:rPr b="1" sz="1800">
                <a:solidFill>
                  <a:srgbClr val="0B0B0B"/>
                </a:solidFill>
                <a:latin typeface="Calibri"/>
              </a:rPr>
              <a:t>•  Short term:  </a:t>
            </a:r>
            <a:r>
              <a:rPr sz="1800">
                <a:solidFill>
                  <a:srgbClr val="52514E"/>
                </a:solidFill>
                <a:latin typeface="Calibri"/>
              </a:rPr>
              <a:t>wrap the winning model in a simple internal tool so any team can paste in an abstract and get back a structured version.</a:t>
            </a:r>
          </a:p>
          <a:p>
            <a:pPr>
              <a:spcAft>
                <a:spcPts val="1500"/>
              </a:spcAft>
            </a:pPr>
            <a:r>
              <a:rPr b="1" sz="1800">
                <a:solidFill>
                  <a:srgbClr val="0B0B0B"/>
                </a:solidFill>
                <a:latin typeface="Calibri"/>
              </a:rPr>
              <a:t>•  Medium term:  </a:t>
            </a:r>
            <a:r>
              <a:rPr sz="1800">
                <a:solidFill>
                  <a:srgbClr val="52514E"/>
                </a:solidFill>
                <a:latin typeface="Calibri"/>
              </a:rPr>
              <a:t>pilot it with a real team, collect feedback on where it gets things wrong, and use that to decide whether more tuning is needed.</a:t>
            </a:r>
          </a:p>
          <a:p>
            <a:pPr>
              <a:spcAft>
                <a:spcPts val="1500"/>
              </a:spcAft>
            </a:pPr>
            <a:r>
              <a:rPr b="1" sz="1800">
                <a:solidFill>
                  <a:srgbClr val="0B0B0B"/>
                </a:solidFill>
                <a:latin typeface="Calibri"/>
              </a:rPr>
              <a:t>•  Longer term:  </a:t>
            </a:r>
            <a:r>
              <a:rPr sz="1800">
                <a:solidFill>
                  <a:srgbClr val="52514E"/>
                </a:solidFill>
                <a:latin typeface="Calibri"/>
              </a:rPr>
              <a:t>test the approach on other types of documents beyond clinical trial abstracts, and explore larger pretrained models if we need to push accuracy further.</a:t>
            </a:r>
          </a:p>
          <a:p>
            <a:pPr>
              <a:spcAft>
                <a:spcPts val="1500"/>
              </a:spcAft>
            </a:pPr>
            <a:r>
              <a:rPr b="1" sz="1800">
                <a:solidFill>
                  <a:srgbClr val="0B0B0B"/>
                </a:solidFill>
                <a:latin typeface="Calibri"/>
              </a:rPr>
              <a:t>•  Ongoing:  </a:t>
            </a:r>
            <a:r>
              <a:rPr sz="1800">
                <a:solidFill>
                  <a:srgbClr val="52514E"/>
                </a:solidFill>
                <a:latin typeface="Calibri"/>
              </a:rPr>
              <a:t>keep an eye on accuracy as new literature comes in — language and topics shift over time, so the model should be revisited periodically, not deployed and forgotten.</a:t>
            </a:r>
          </a:p>
        </p:txBody>
      </p:sp>
      <p:sp>
        <p:nvSpPr>
          <p:cNvPr id="7" name="TextBox 6"/>
          <p:cNvSpPr txBox="1"/>
          <p:nvPr/>
        </p:nvSpPr>
        <p:spPr>
          <a:xfrm>
            <a:off x="10881360" y="6492240"/>
            <a:ext cx="1097280" cy="274320"/>
          </a:xfrm>
          <a:prstGeom prst="rect">
            <a:avLst/>
          </a:prstGeom>
          <a:noFill/>
        </p:spPr>
        <p:txBody>
          <a:bodyPr wrap="none">
            <a:spAutoFit/>
          </a:bodyPr>
          <a:lstStyle/>
          <a:p>
            <a:pPr algn="r"/>
            <a:r>
              <a:rPr sz="1100">
                <a:solidFill>
                  <a:srgbClr val="52514E"/>
                </a:solidFill>
                <a:latin typeface="Calibri"/>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743200"/>
            <a:ext cx="10332720" cy="914400"/>
          </a:xfrm>
          <a:prstGeom prst="rect">
            <a:avLst/>
          </a:prstGeom>
          <a:noFill/>
        </p:spPr>
        <p:txBody>
          <a:bodyPr wrap="square">
            <a:spAutoFit/>
          </a:bodyPr>
          <a:lstStyle/>
          <a:p>
            <a:pPr algn="l"/>
            <a:r>
              <a:rPr sz="4400" b="1" i="0">
                <a:solidFill>
                  <a:srgbClr val="FFFFFF"/>
                </a:solidFill>
                <a:latin typeface="Calibri"/>
              </a:rPr>
              <a:t>Thank You</a:t>
            </a:r>
          </a:p>
        </p:txBody>
      </p:sp>
      <p:sp>
        <p:nvSpPr>
          <p:cNvPr id="5" name="TextBox 4"/>
          <p:cNvSpPr txBox="1"/>
          <p:nvPr/>
        </p:nvSpPr>
        <p:spPr>
          <a:xfrm>
            <a:off x="914400" y="3657600"/>
            <a:ext cx="10332720" cy="548640"/>
          </a:xfrm>
          <a:prstGeom prst="rect">
            <a:avLst/>
          </a:prstGeom>
          <a:noFill/>
        </p:spPr>
        <p:txBody>
          <a:bodyPr wrap="square">
            <a:spAutoFit/>
          </a:bodyPr>
          <a:lstStyle/>
          <a:p>
            <a:pPr algn="l"/>
            <a:r>
              <a:rPr sz="2200" b="0" i="0">
                <a:solidFill>
                  <a:srgbClr val="FFFFFF"/>
                </a:solidFill>
                <a:latin typeface="Calibri"/>
              </a:rPr>
              <a:t>Questions?</a:t>
            </a:r>
          </a:p>
        </p:txBody>
      </p:sp>
      <p:sp>
        <p:nvSpPr>
          <p:cNvPr id="6" name="TextBox 5"/>
          <p:cNvSpPr txBox="1"/>
          <p:nvPr/>
        </p:nvSpPr>
        <p:spPr>
          <a:xfrm>
            <a:off x="914400" y="5760720"/>
            <a:ext cx="10332720" cy="548640"/>
          </a:xfrm>
          <a:prstGeom prst="rect">
            <a:avLst/>
          </a:prstGeom>
          <a:noFill/>
        </p:spPr>
        <p:txBody>
          <a:bodyPr wrap="square">
            <a:spAutoFit/>
          </a:bodyPr>
          <a:lstStyle/>
          <a:p>
            <a:pPr algn="l"/>
            <a:r>
              <a:rPr sz="1600" b="1" i="0">
                <a:solidFill>
                  <a:srgbClr val="FFFFFF"/>
                </a:solidFill>
                <a:latin typeface="Calibri"/>
              </a:rPr>
              <a:t>Ramachandra Udupa   |   Employee ID: 290997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105156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777240"/>
          </a:xfrm>
          <a:prstGeom prst="rect">
            <a:avLst/>
          </a:prstGeom>
          <a:noFill/>
        </p:spPr>
        <p:txBody>
          <a:bodyPr wrap="square">
            <a:spAutoFit/>
          </a:bodyPr>
          <a:lstStyle/>
          <a:p>
            <a:r>
              <a:rPr sz="3000" b="1">
                <a:solidFill>
                  <a:srgbClr val="0B0B0B"/>
                </a:solidFill>
                <a:latin typeface="Calibri"/>
              </a:rPr>
              <a:t>What the Data Told Us</a:t>
            </a:r>
          </a:p>
        </p:txBody>
      </p:sp>
      <p:sp>
        <p:nvSpPr>
          <p:cNvPr id="5" name="Rectangle 4"/>
          <p:cNvSpPr/>
          <p:nvPr/>
        </p:nvSpPr>
        <p:spPr>
          <a:xfrm>
            <a:off x="502920" y="1024128"/>
            <a:ext cx="274320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da_class_dist.png"/>
          <p:cNvPicPr>
            <a:picLocks noChangeAspect="1"/>
          </p:cNvPicPr>
          <p:nvPr/>
        </p:nvPicPr>
        <p:blipFill>
          <a:blip r:embed="rId2"/>
          <a:stretch>
            <a:fillRect/>
          </a:stretch>
        </p:blipFill>
        <p:spPr>
          <a:xfrm>
            <a:off x="365760" y="1280160"/>
            <a:ext cx="5669280" cy="2608251"/>
          </a:xfrm>
          <a:prstGeom prst="rect">
            <a:avLst/>
          </a:prstGeom>
        </p:spPr>
      </p:pic>
      <p:pic>
        <p:nvPicPr>
          <p:cNvPr id="7" name="Picture 6" descr="eda_sent_len.png"/>
          <p:cNvPicPr>
            <a:picLocks noChangeAspect="1"/>
          </p:cNvPicPr>
          <p:nvPr/>
        </p:nvPicPr>
        <p:blipFill>
          <a:blip r:embed="rId3"/>
          <a:stretch>
            <a:fillRect/>
          </a:stretch>
        </p:blipFill>
        <p:spPr>
          <a:xfrm>
            <a:off x="6126480" y="1280160"/>
            <a:ext cx="5669280" cy="2608251"/>
          </a:xfrm>
          <a:prstGeom prst="rect">
            <a:avLst/>
          </a:prstGeom>
        </p:spPr>
      </p:pic>
      <p:sp>
        <p:nvSpPr>
          <p:cNvPr id="8" name="TextBox 7"/>
          <p:cNvSpPr txBox="1"/>
          <p:nvPr/>
        </p:nvSpPr>
        <p:spPr>
          <a:xfrm>
            <a:off x="548640" y="5989320"/>
            <a:ext cx="11064240" cy="640080"/>
          </a:xfrm>
          <a:prstGeom prst="rect">
            <a:avLst/>
          </a:prstGeom>
          <a:noFill/>
        </p:spPr>
        <p:txBody>
          <a:bodyPr wrap="square">
            <a:spAutoFit/>
          </a:bodyPr>
          <a:lstStyle/>
          <a:p>
            <a:r>
              <a:rPr sz="1400" i="1">
                <a:solidFill>
                  <a:srgbClr val="52514E"/>
                </a:solidFill>
                <a:latin typeface="Calibri"/>
              </a:rPr>
              <a:t>Methods and Results make up nearly two-thirds of all sentences while Objective is under 8% — this imbalance is exactly why we later weighted the loss function during tuning. Sentence length also directly set the 55-word cutoff used by the token-level model.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